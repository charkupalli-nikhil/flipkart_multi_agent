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0" y="0"/>
            <a:ext cx="12191695" cy="91440"/>
          </a:xfrm>
          <a:prstGeom prst="rect">
            <a:avLst/>
          </a:prstGeom>
          <a:solidFill>
            <a:srgbClr val="2874F0"/>
          </a:solidFill>
          <a:ln>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10362895" cy="5029200"/>
          </a:xfrm>
          <a:prstGeom prst="roundRect">
            <a:avLst/>
          </a:prstGeom>
          <a:solidFill>
            <a:srgbClr val="0E1A30"/>
          </a:solidFill>
          <a:ln w="19050">
            <a:solidFill>
              <a:srgbClr val="1E3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71600" y="1280160"/>
            <a:ext cx="1645920" cy="640080"/>
          </a:xfrm>
          <a:prstGeom prst="roundRect">
            <a:avLst/>
          </a:prstGeom>
          <a:solidFill>
            <a:srgbClr val="2874F0"/>
          </a:solidFill>
          <a:ln w="12700">
            <a:solidFill>
              <a:srgbClr val="FFE11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defRPr>
            </a:pPr>
            <a:r>
              <a:t>Flipkart Plus ✦</a:t>
            </a:r>
          </a:p>
        </p:txBody>
      </p:sp>
      <p:sp>
        <p:nvSpPr>
          <p:cNvPr id="5" name="Rounded Rectangle 4"/>
          <p:cNvSpPr/>
          <p:nvPr/>
        </p:nvSpPr>
        <p:spPr>
          <a:xfrm>
            <a:off x="3200400" y="1280160"/>
            <a:ext cx="3291840" cy="365760"/>
          </a:xfrm>
          <a:prstGeom prst="roundRect">
            <a:avLst/>
          </a:prstGeom>
          <a:solidFill>
            <a:srgbClr val="162644"/>
          </a:solidFill>
          <a:ln w="12700">
            <a:solidFill>
              <a:srgbClr val="FFE11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E11B"/>
                </a:solidFill>
              </a:defRPr>
            </a:pPr>
            <a:r>
              <a:t>ENTERPRISE MULTI-AGENT OS</a:t>
            </a:r>
          </a:p>
        </p:txBody>
      </p:sp>
      <p:sp>
        <p:nvSpPr>
          <p:cNvPr id="6" name="TextBox 5"/>
          <p:cNvSpPr txBox="1"/>
          <p:nvPr/>
        </p:nvSpPr>
        <p:spPr>
          <a:xfrm>
            <a:off x="1371600" y="2011680"/>
            <a:ext cx="9326880" cy="1188720"/>
          </a:xfrm>
          <a:prstGeom prst="rect">
            <a:avLst/>
          </a:prstGeom>
          <a:noFill/>
        </p:spPr>
        <p:txBody>
          <a:bodyPr wrap="square">
            <a:spAutoFit/>
          </a:bodyPr>
          <a:lstStyle/>
          <a:p>
            <a:pPr>
              <a:defRPr sz="3600" b="1">
                <a:solidFill>
                  <a:srgbClr val="FFFFFF"/>
                </a:solidFill>
              </a:defRPr>
            </a:pPr>
            <a:r>
              <a:t>Flipkart Commerce Copilot</a:t>
            </a:r>
          </a:p>
          <a:p>
            <a:pPr>
              <a:defRPr sz="1800">
                <a:solidFill>
                  <a:srgbClr val="FFE11B"/>
                </a:solidFill>
              </a:defRPr>
            </a:pPr>
            <a:r>
              <a:t>Enterprise Multi-Agent Intelligence for Sales Growth &amp; Reverse Logistics</a:t>
            </a:r>
          </a:p>
        </p:txBody>
      </p:sp>
      <p:sp>
        <p:nvSpPr>
          <p:cNvPr id="7" name="TextBox 6"/>
          <p:cNvSpPr txBox="1"/>
          <p:nvPr/>
        </p:nvSpPr>
        <p:spPr>
          <a:xfrm>
            <a:off x="1371600" y="3291840"/>
            <a:ext cx="9326880" cy="914400"/>
          </a:xfrm>
          <a:prstGeom prst="rect">
            <a:avLst/>
          </a:prstGeom>
          <a:noFill/>
        </p:spPr>
        <p:txBody>
          <a:bodyPr wrap="square">
            <a:spAutoFit/>
          </a:bodyPr>
          <a:lstStyle/>
          <a:p>
            <a:pPr>
              <a:defRPr sz="1200">
                <a:solidFill>
                  <a:srgbClr val="94A3B8"/>
                </a:solidFill>
              </a:defRPr>
            </a:pPr>
            <a:r>
              <a:t>An autonomous LangGraph multi-agent decision platform trained and validated on 133,503 real-world transactions across 6 operating calendar years (2015–2020), featuring mathematical diagnostics, Holt-Winters forecasting, and Google Gemini AI.</a:t>
            </a:r>
          </a:p>
        </p:txBody>
      </p:sp>
      <p:sp>
        <p:nvSpPr>
          <p:cNvPr id="8" name="Rounded Rectangle 7"/>
          <p:cNvSpPr/>
          <p:nvPr/>
        </p:nvSpPr>
        <p:spPr>
          <a:xfrm>
            <a:off x="1371600" y="4297680"/>
            <a:ext cx="9418320" cy="1188720"/>
          </a:xfrm>
          <a:prstGeom prst="roundRect">
            <a:avLst/>
          </a:prstGeom>
          <a:solidFill>
            <a:srgbClr val="162644"/>
          </a:solidFill>
          <a:ln w="12700">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 Academic Project Submission  |  Course: Advanced Agentic AI  |  External Faculty Evaluation</a:t>
            </a:r>
          </a:p>
          <a:p>
            <a:pPr>
              <a:defRPr sz="1000">
                <a:solidFill>
                  <a:srgbClr val="00D2D3"/>
                </a:solidFill>
              </a:defRPr>
            </a:pPr>
            <a:r>
              <a:t>• Orchestration: LangGraph v0.2 StateGraph   • LLM Engine: Google Gemini AI + Grounded Synthesis</a:t>
            </a:r>
          </a:p>
          <a:p>
            <a:pPr>
              <a:defRPr sz="1000">
                <a:solidFill>
                  <a:srgbClr val="26A541"/>
                </a:solidFill>
              </a:defRPr>
            </a:pPr>
            <a:r>
              <a:t>• Dataset Scope: 133,503 Verified Shipments  • GMV Analyzed: ₹160.33 Million (2015–2020)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731520" y="457200"/>
            <a:ext cx="10728655" cy="36576"/>
          </a:xfrm>
          <a:prstGeom prst="rect">
            <a:avLst/>
          </a:prstGeom>
          <a:solidFill>
            <a:srgbClr val="2874F0"/>
          </a:solidFill>
          <a:ln>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8229600" cy="320040"/>
          </a:xfrm>
          <a:prstGeom prst="rect">
            <a:avLst/>
          </a:prstGeom>
          <a:noFill/>
        </p:spPr>
        <p:txBody>
          <a:bodyPr wrap="square">
            <a:spAutoFit/>
          </a:bodyPr>
          <a:lstStyle/>
          <a:p>
            <a:pPr>
              <a:defRPr sz="950" b="1">
                <a:solidFill>
                  <a:srgbClr val="FFE11B"/>
                </a:solidFill>
              </a:defRPr>
            </a:pPr>
            <a:r>
              <a:t>FLIPKART COMMERCE COPILOT  •  PROBLEM STATEMENT &amp; PROJECT GOALS</a:t>
            </a:r>
          </a:p>
        </p:txBody>
      </p:sp>
      <p:sp>
        <p:nvSpPr>
          <p:cNvPr id="4" name="TextBox 3"/>
          <p:cNvSpPr txBox="1"/>
          <p:nvPr/>
        </p:nvSpPr>
        <p:spPr>
          <a:xfrm>
            <a:off x="731520" y="868680"/>
            <a:ext cx="9601200" cy="548640"/>
          </a:xfrm>
          <a:prstGeom prst="rect">
            <a:avLst/>
          </a:prstGeom>
          <a:noFill/>
        </p:spPr>
        <p:txBody>
          <a:bodyPr wrap="square">
            <a:spAutoFit/>
          </a:bodyPr>
          <a:lstStyle/>
          <a:p>
            <a:pPr>
              <a:defRPr sz="2200" b="1">
                <a:solidFill>
                  <a:srgbClr val="FFFFFF"/>
                </a:solidFill>
              </a:defRPr>
            </a:pPr>
            <a:r>
              <a:t>Project Objectives &amp; Strategic Focus</a:t>
            </a:r>
          </a:p>
        </p:txBody>
      </p:sp>
      <p:sp>
        <p:nvSpPr>
          <p:cNvPr id="5" name="TextBox 4"/>
          <p:cNvSpPr txBox="1"/>
          <p:nvPr/>
        </p:nvSpPr>
        <p:spPr>
          <a:xfrm>
            <a:off x="731520" y="1371600"/>
            <a:ext cx="9601200" cy="320040"/>
          </a:xfrm>
          <a:prstGeom prst="rect">
            <a:avLst/>
          </a:prstGeom>
          <a:noFill/>
        </p:spPr>
        <p:txBody>
          <a:bodyPr wrap="square">
            <a:spAutoFit/>
          </a:bodyPr>
          <a:lstStyle/>
          <a:p>
            <a:pPr>
              <a:defRPr sz="1100">
                <a:solidFill>
                  <a:srgbClr val="94A3B8"/>
                </a:solidFill>
              </a:defRPr>
            </a:pPr>
            <a:r>
              <a:t>Bridging the gap between academic toy agents and real-world e-commerce enterprise decision systems.</a:t>
            </a:r>
          </a:p>
        </p:txBody>
      </p:sp>
      <p:sp>
        <p:nvSpPr>
          <p:cNvPr id="6" name="TextBox 5"/>
          <p:cNvSpPr txBox="1"/>
          <p:nvPr/>
        </p:nvSpPr>
        <p:spPr>
          <a:xfrm>
            <a:off x="10515600" y="548640"/>
            <a:ext cx="914400" cy="320040"/>
          </a:xfrm>
          <a:prstGeom prst="rect">
            <a:avLst/>
          </a:prstGeom>
          <a:noFill/>
        </p:spPr>
        <p:txBody>
          <a:bodyPr wrap="none">
            <a:spAutoFit/>
          </a:bodyPr>
          <a:lstStyle/>
          <a:p>
            <a:pPr algn="r">
              <a:defRPr sz="1100" b="1">
                <a:solidFill>
                  <a:srgbClr val="94A3B8"/>
                </a:solidFill>
              </a:defRPr>
            </a:pPr>
            <a:r>
              <a:t>02 / 10</a:t>
            </a:r>
          </a:p>
        </p:txBody>
      </p:sp>
      <p:sp>
        <p:nvSpPr>
          <p:cNvPr id="7" name="Rounded Rectangle 6"/>
          <p:cNvSpPr/>
          <p:nvPr/>
        </p:nvSpPr>
        <p:spPr>
          <a:xfrm>
            <a:off x="731520" y="1828800"/>
            <a:ext cx="5257800" cy="2103120"/>
          </a:xfrm>
          <a:prstGeom prst="roundRect">
            <a:avLst/>
          </a:prstGeom>
          <a:solidFill>
            <a:srgbClr val="0E1A30"/>
          </a:solidFill>
          <a:ln w="19050">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874F0"/>
                </a:solidFill>
              </a:defRPr>
            </a:pPr>
            <a:r>
              <a:t>1. Real-World Scale vs. Toy Datasets</a:t>
            </a:r>
          </a:p>
          <a:p>
            <a:pPr>
              <a:defRPr sz="1050">
                <a:solidFill>
                  <a:srgbClr val="FFFFFF"/>
                </a:solidFill>
              </a:defRPr>
            </a:pPr>
            <a:r>
              <a:t>Shift from simplistic 1,000-row synthetic sets to 133,503 verified production records spanning 6 years (2015–2020), 5 merchandise categories, 16 subcategories, and 26 regional hubs.</a:t>
            </a:r>
          </a:p>
        </p:txBody>
      </p:sp>
      <p:sp>
        <p:nvSpPr>
          <p:cNvPr id="8" name="Rounded Rectangle 7"/>
          <p:cNvSpPr/>
          <p:nvPr/>
        </p:nvSpPr>
        <p:spPr>
          <a:xfrm>
            <a:off x="6172200" y="1828800"/>
            <a:ext cx="5257800" cy="2103120"/>
          </a:xfrm>
          <a:prstGeom prst="roundRect">
            <a:avLst/>
          </a:prstGeom>
          <a:solidFill>
            <a:srgbClr val="0E1A30"/>
          </a:solidFill>
          <a:ln w="19050">
            <a:solidFill>
              <a:srgbClr val="FFE1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E11B"/>
                </a:solidFill>
              </a:defRPr>
            </a:pPr>
            <a:r>
              <a:t>2. Modular Multi-Agent Decomposition</a:t>
            </a:r>
          </a:p>
          <a:p>
            <a:pPr>
              <a:defRPr sz="1050">
                <a:solidFill>
                  <a:srgbClr val="FFFFFF"/>
                </a:solidFill>
              </a:defRPr>
            </a:pPr>
            <a:r>
              <a:t>Overcome the hallucination and unreliability of monolithic single-prompt LLMs by distributing work to 4 specialized agents: Sales Analytics, Profit &amp; Returns, Strategy &amp; Forecasting, and Policy RAG.</a:t>
            </a:r>
          </a:p>
        </p:txBody>
      </p:sp>
      <p:sp>
        <p:nvSpPr>
          <p:cNvPr id="9" name="Rounded Rectangle 8"/>
          <p:cNvSpPr/>
          <p:nvPr/>
        </p:nvSpPr>
        <p:spPr>
          <a:xfrm>
            <a:off x="731520" y="4114800"/>
            <a:ext cx="5257800" cy="2103120"/>
          </a:xfrm>
          <a:prstGeom prst="roundRect">
            <a:avLst/>
          </a:prstGeom>
          <a:solidFill>
            <a:srgbClr val="0E1A30"/>
          </a:solidFill>
          <a:ln w="19050">
            <a:solidFill>
              <a:srgbClr val="FB64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B641B"/>
                </a:solidFill>
              </a:defRPr>
            </a:pPr>
            <a:r>
              <a:t>3. Reverse Logistics Leakage Diagnostics</a:t>
            </a:r>
          </a:p>
          <a:p>
            <a:pPr>
              <a:defRPr sz="1050">
                <a:solidFill>
                  <a:srgbClr val="FFFFFF"/>
                </a:solidFill>
              </a:defRPr>
            </a:pPr>
            <a:r>
              <a:t>Pinpoint the root causes of 36,036 returned orders (26.99% catalog return rate) responsible for ₹24.12 Million in forfeited profits and ₹3.60 Million in deadweight reverse freight costs.</a:t>
            </a:r>
          </a:p>
        </p:txBody>
      </p:sp>
      <p:sp>
        <p:nvSpPr>
          <p:cNvPr id="10" name="Rounded Rectangle 9"/>
          <p:cNvSpPr/>
          <p:nvPr/>
        </p:nvSpPr>
        <p:spPr>
          <a:xfrm>
            <a:off x="6172200" y="4114800"/>
            <a:ext cx="5257800" cy="2103120"/>
          </a:xfrm>
          <a:prstGeom prst="roundRect">
            <a:avLst/>
          </a:prstGeom>
          <a:solidFill>
            <a:srgbClr val="0E1A30"/>
          </a:solidFill>
          <a:ln w="19050">
            <a:solidFill>
              <a:srgbClr val="26A5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26A541"/>
                </a:solidFill>
              </a:defRPr>
            </a:pPr>
            <a:r>
              <a:t>4. Predictive Forecasting &amp; Strategy</a:t>
            </a:r>
          </a:p>
          <a:p>
            <a:pPr>
              <a:defRPr sz="1050">
                <a:solidFill>
                  <a:srgbClr val="FFFFFF"/>
                </a:solidFill>
              </a:defRPr>
            </a:pPr>
            <a:r>
              <a:t>Implement deterministic 72-month Holt-Winters exponential smoothing and unsupervised KMeans behavioral clustering to forecast demand and model what-if pricing interventions.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731520" y="457200"/>
            <a:ext cx="10728655" cy="36576"/>
          </a:xfrm>
          <a:prstGeom prst="rect">
            <a:avLst/>
          </a:prstGeom>
          <a:solidFill>
            <a:srgbClr val="2874F0"/>
          </a:solidFill>
          <a:ln>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8229600" cy="320040"/>
          </a:xfrm>
          <a:prstGeom prst="rect">
            <a:avLst/>
          </a:prstGeom>
          <a:noFill/>
        </p:spPr>
        <p:txBody>
          <a:bodyPr wrap="square">
            <a:spAutoFit/>
          </a:bodyPr>
          <a:lstStyle/>
          <a:p>
            <a:pPr>
              <a:defRPr sz="950" b="1">
                <a:solidFill>
                  <a:srgbClr val="FFE11B"/>
                </a:solidFill>
              </a:defRPr>
            </a:pPr>
            <a:r>
              <a:t>FLIPKART COMMERCE COPILOT  •  TECHNOLOGY ARCHITECTURE</a:t>
            </a:r>
          </a:p>
        </p:txBody>
      </p:sp>
      <p:sp>
        <p:nvSpPr>
          <p:cNvPr id="4" name="TextBox 3"/>
          <p:cNvSpPr txBox="1"/>
          <p:nvPr/>
        </p:nvSpPr>
        <p:spPr>
          <a:xfrm>
            <a:off x="731520" y="868680"/>
            <a:ext cx="9601200" cy="548640"/>
          </a:xfrm>
          <a:prstGeom prst="rect">
            <a:avLst/>
          </a:prstGeom>
          <a:noFill/>
        </p:spPr>
        <p:txBody>
          <a:bodyPr wrap="square">
            <a:spAutoFit/>
          </a:bodyPr>
          <a:lstStyle/>
          <a:p>
            <a:pPr>
              <a:defRPr sz="2200" b="1">
                <a:solidFill>
                  <a:srgbClr val="FFFFFF"/>
                </a:solidFill>
              </a:defRPr>
            </a:pPr>
            <a:r>
              <a:t>Agentic AI Framework &amp; Technology Stack</a:t>
            </a:r>
          </a:p>
        </p:txBody>
      </p:sp>
      <p:sp>
        <p:nvSpPr>
          <p:cNvPr id="5" name="TextBox 4"/>
          <p:cNvSpPr txBox="1"/>
          <p:nvPr/>
        </p:nvSpPr>
        <p:spPr>
          <a:xfrm>
            <a:off x="731520" y="1371600"/>
            <a:ext cx="9601200" cy="320040"/>
          </a:xfrm>
          <a:prstGeom prst="rect">
            <a:avLst/>
          </a:prstGeom>
          <a:noFill/>
        </p:spPr>
        <p:txBody>
          <a:bodyPr wrap="square">
            <a:spAutoFit/>
          </a:bodyPr>
          <a:lstStyle/>
          <a:p>
            <a:pPr>
              <a:defRPr sz="1100">
                <a:solidFill>
                  <a:srgbClr val="94A3B8"/>
                </a:solidFill>
              </a:defRPr>
            </a:pPr>
            <a:r>
              <a:t>Multi-layered architecture combining state graph orchestration, deterministic analytics, and dual LLM inference.</a:t>
            </a:r>
          </a:p>
        </p:txBody>
      </p:sp>
      <p:sp>
        <p:nvSpPr>
          <p:cNvPr id="6" name="TextBox 5"/>
          <p:cNvSpPr txBox="1"/>
          <p:nvPr/>
        </p:nvSpPr>
        <p:spPr>
          <a:xfrm>
            <a:off x="10515600" y="548640"/>
            <a:ext cx="914400" cy="320040"/>
          </a:xfrm>
          <a:prstGeom prst="rect">
            <a:avLst/>
          </a:prstGeom>
          <a:noFill/>
        </p:spPr>
        <p:txBody>
          <a:bodyPr wrap="none">
            <a:spAutoFit/>
          </a:bodyPr>
          <a:lstStyle/>
          <a:p>
            <a:pPr algn="r">
              <a:defRPr sz="1100" b="1">
                <a:solidFill>
                  <a:srgbClr val="94A3B8"/>
                </a:solidFill>
              </a:defRPr>
            </a:pPr>
            <a:r>
              <a:t>03 / 10</a:t>
            </a:r>
          </a:p>
        </p:txBody>
      </p:sp>
      <p:sp>
        <p:nvSpPr>
          <p:cNvPr id="7" name="Rounded Rectangle 6"/>
          <p:cNvSpPr/>
          <p:nvPr/>
        </p:nvSpPr>
        <p:spPr>
          <a:xfrm>
            <a:off x="731520" y="1828800"/>
            <a:ext cx="2560320" cy="4389120"/>
          </a:xfrm>
          <a:prstGeom prst="roundRect">
            <a:avLst/>
          </a:prstGeom>
          <a:solidFill>
            <a:srgbClr val="0E1A30"/>
          </a:solidFill>
          <a:ln w="19050">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874F0"/>
                </a:solidFill>
              </a:defRPr>
            </a:pPr>
            <a:r>
              <a:t>Layer 1: Orchestration &amp; State Machine</a:t>
            </a:r>
          </a:p>
          <a:p>
            <a:pPr>
              <a:defRPr sz="1200" b="1">
                <a:solidFill>
                  <a:srgbClr val="FFFFFF"/>
                </a:solidFill>
              </a:defRPr>
            </a:pPr>
            <a:r>
              <a:t>LangGraph v0.2 StateGraph</a:t>
            </a:r>
          </a:p>
          <a:p>
            <a:pPr>
              <a:defRPr sz="950">
                <a:solidFill>
                  <a:srgbClr val="94A3B8"/>
                </a:solidFill>
              </a:defRPr>
            </a:pPr>
            <a:r>
              <a:t>• Directed cyclic execution graph with typed AgentState</a:t>
            </a:r>
          </a:p>
          <a:p>
            <a:pPr>
              <a:defRPr sz="950">
                <a:solidFill>
                  <a:srgbClr val="94A3B8"/>
                </a:solidFill>
              </a:defRPr>
            </a:pPr>
            <a:r>
              <a:t>• Dynamic semantic routing node &amp; zero-trust privacy guardrail</a:t>
            </a:r>
          </a:p>
          <a:p>
            <a:pPr>
              <a:defRPr sz="950">
                <a:solidFill>
                  <a:srgbClr val="94A3B8"/>
                </a:solidFill>
              </a:defRPr>
            </a:pPr>
            <a:r>
              <a:t>• Deterministic sequential chaining across specialist sub-agents</a:t>
            </a:r>
          </a:p>
        </p:txBody>
      </p:sp>
      <p:sp>
        <p:nvSpPr>
          <p:cNvPr id="8" name="Rounded Rectangle 7"/>
          <p:cNvSpPr/>
          <p:nvPr/>
        </p:nvSpPr>
        <p:spPr>
          <a:xfrm>
            <a:off x="3429000" y="1828800"/>
            <a:ext cx="2560320" cy="4389120"/>
          </a:xfrm>
          <a:prstGeom prst="roundRect">
            <a:avLst/>
          </a:prstGeom>
          <a:solidFill>
            <a:srgbClr val="0E1A30"/>
          </a:solidFill>
          <a:ln w="19050">
            <a:solidFill>
              <a:srgbClr val="FFE1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E11B"/>
                </a:solidFill>
              </a:defRPr>
            </a:pPr>
            <a:r>
              <a:t>Layer 2: Foundation Model &amp; Inference</a:t>
            </a:r>
          </a:p>
          <a:p>
            <a:pPr>
              <a:defRPr sz="1200" b="1">
                <a:solidFill>
                  <a:srgbClr val="FFFFFF"/>
                </a:solidFill>
              </a:defRPr>
            </a:pPr>
            <a:r>
              <a:t>Google Gemini AI Engine</a:t>
            </a:r>
          </a:p>
          <a:p>
            <a:pPr>
              <a:defRPr sz="950">
                <a:solidFill>
                  <a:srgbClr val="94A3B8"/>
                </a:solidFill>
              </a:defRPr>
            </a:pPr>
            <a:r>
              <a:t>• Live Gemini API (gemini-2.0-flash / gemini-1.5-flash) integration</a:t>
            </a:r>
          </a:p>
          <a:p>
            <a:pPr>
              <a:defRPr sz="950">
                <a:solidFill>
                  <a:srgbClr val="94A3B8"/>
                </a:solidFill>
              </a:defRPr>
            </a:pPr>
            <a:r>
              <a:t>• Resilient 6-second thread timeout with graceful degradation</a:t>
            </a:r>
          </a:p>
          <a:p>
            <a:pPr>
              <a:defRPr sz="950">
                <a:solidFill>
                  <a:srgbClr val="94A3B8"/>
                </a:solidFill>
              </a:defRPr>
            </a:pPr>
            <a:r>
              <a:t>• Deterministic grounded template fallback prevents downtime</a:t>
            </a:r>
          </a:p>
        </p:txBody>
      </p:sp>
      <p:sp>
        <p:nvSpPr>
          <p:cNvPr id="9" name="Rounded Rectangle 8"/>
          <p:cNvSpPr/>
          <p:nvPr/>
        </p:nvSpPr>
        <p:spPr>
          <a:xfrm>
            <a:off x="6126480" y="1828800"/>
            <a:ext cx="2560320" cy="4389120"/>
          </a:xfrm>
          <a:prstGeom prst="roundRect">
            <a:avLst/>
          </a:prstGeom>
          <a:solidFill>
            <a:srgbClr val="0E1A30"/>
          </a:solidFill>
          <a:ln w="19050">
            <a:solidFill>
              <a:srgbClr val="26A5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6A541"/>
                </a:solidFill>
              </a:defRPr>
            </a:pPr>
            <a:r>
              <a:t>Layer 3: Computational &amp; Statistical Core</a:t>
            </a:r>
          </a:p>
          <a:p>
            <a:pPr>
              <a:defRPr sz="1200" b="1">
                <a:solidFill>
                  <a:srgbClr val="FFFFFF"/>
                </a:solidFill>
              </a:defRPr>
            </a:pPr>
            <a:r>
              <a:t>Pandas, SciPy, Statsmodels, Scikit-Learn</a:t>
            </a:r>
          </a:p>
          <a:p>
            <a:pPr>
              <a:defRPr sz="950">
                <a:solidFill>
                  <a:srgbClr val="94A3B8"/>
                </a:solidFill>
              </a:defRPr>
            </a:pPr>
            <a:r>
              <a:t>• Pandas &amp; NumPy: Vectorized aggregation of 133,503 transactions</a:t>
            </a:r>
          </a:p>
          <a:p>
            <a:pPr>
              <a:defRPr sz="950">
                <a:solidFill>
                  <a:srgbClr val="94A3B8"/>
                </a:solidFill>
              </a:defRPr>
            </a:pPr>
            <a:r>
              <a:t>• Statsmodels: Holt-Winters Exponential Smoothing (72 cycles)</a:t>
            </a:r>
          </a:p>
          <a:p>
            <a:pPr>
              <a:defRPr sz="950">
                <a:solidFill>
                  <a:srgbClr val="94A3B8"/>
                </a:solidFill>
              </a:defRPr>
            </a:pPr>
            <a:r>
              <a:t>• SciPy: Pearson correlation (r = -0.42) for discount vs margin</a:t>
            </a:r>
          </a:p>
          <a:p>
            <a:pPr>
              <a:defRPr sz="950">
                <a:solidFill>
                  <a:srgbClr val="94A3B8"/>
                </a:solidFill>
              </a:defRPr>
            </a:pPr>
            <a:r>
              <a:t>• Scikit-Learn: Unsupervised KMeans buyer persona clustering</a:t>
            </a:r>
          </a:p>
        </p:txBody>
      </p:sp>
      <p:sp>
        <p:nvSpPr>
          <p:cNvPr id="10" name="Rounded Rectangle 9"/>
          <p:cNvSpPr/>
          <p:nvPr/>
        </p:nvSpPr>
        <p:spPr>
          <a:xfrm>
            <a:off x="8823960" y="1828800"/>
            <a:ext cx="2560320" cy="4389120"/>
          </a:xfrm>
          <a:prstGeom prst="roundRect">
            <a:avLst/>
          </a:prstGeom>
          <a:solidFill>
            <a:srgbClr val="0E1A30"/>
          </a:solidFill>
          <a:ln w="19050">
            <a:solidFill>
              <a:srgbClr val="00D2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D2D3"/>
                </a:solidFill>
              </a:defRPr>
            </a:pPr>
            <a:r>
              <a:t>Layer 4: Decision OS &amp; Visualization</a:t>
            </a:r>
          </a:p>
          <a:p>
            <a:pPr>
              <a:defRPr sz="1200" b="1">
                <a:solidFill>
                  <a:srgbClr val="FFFFFF"/>
                </a:solidFill>
              </a:defRPr>
            </a:pPr>
            <a:r>
              <a:t>Streamlit Enterprise &amp; Plotly</a:t>
            </a:r>
          </a:p>
          <a:p>
            <a:pPr>
              <a:defRPr sz="950">
                <a:solidFill>
                  <a:srgbClr val="94A3B8"/>
                </a:solidFill>
              </a:defRPr>
            </a:pPr>
            <a:r>
              <a:t>• Custom Flipkart Dark Commerce UI tokens &amp; glassmorphic styling</a:t>
            </a:r>
          </a:p>
          <a:p>
            <a:pPr>
              <a:defRPr sz="950">
                <a:solidFill>
                  <a:srgbClr val="94A3B8"/>
                </a:solidFill>
              </a:defRPr>
            </a:pPr>
            <a:r>
              <a:t>• Interactive Plotly dark charts with Flipkart Blue &amp; Green palette</a:t>
            </a:r>
          </a:p>
          <a:p>
            <a:pPr>
              <a:defRPr sz="950">
                <a:solidFill>
                  <a:srgbClr val="94A3B8"/>
                </a:solidFill>
              </a:defRPr>
            </a:pPr>
            <a:r>
              <a:t>• High-density executive KPI ribbon &amp; live multi-agent trace stream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731520" y="457200"/>
            <a:ext cx="10728655" cy="36576"/>
          </a:xfrm>
          <a:prstGeom prst="rect">
            <a:avLst/>
          </a:prstGeom>
          <a:solidFill>
            <a:srgbClr val="2874F0"/>
          </a:solidFill>
          <a:ln>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8229600" cy="320040"/>
          </a:xfrm>
          <a:prstGeom prst="rect">
            <a:avLst/>
          </a:prstGeom>
          <a:noFill/>
        </p:spPr>
        <p:txBody>
          <a:bodyPr wrap="square">
            <a:spAutoFit/>
          </a:bodyPr>
          <a:lstStyle/>
          <a:p>
            <a:pPr>
              <a:defRPr sz="950" b="1">
                <a:solidFill>
                  <a:srgbClr val="FFE11B"/>
                </a:solidFill>
              </a:defRPr>
            </a:pPr>
            <a:r>
              <a:t>FLIPKART COMMERCE COPILOT  •  COMPONENT ARCHITECTURE</a:t>
            </a:r>
          </a:p>
        </p:txBody>
      </p:sp>
      <p:sp>
        <p:nvSpPr>
          <p:cNvPr id="4" name="TextBox 3"/>
          <p:cNvSpPr txBox="1"/>
          <p:nvPr/>
        </p:nvSpPr>
        <p:spPr>
          <a:xfrm>
            <a:off x="731520" y="868680"/>
            <a:ext cx="9601200" cy="548640"/>
          </a:xfrm>
          <a:prstGeom prst="rect">
            <a:avLst/>
          </a:prstGeom>
          <a:noFill/>
        </p:spPr>
        <p:txBody>
          <a:bodyPr wrap="square">
            <a:spAutoFit/>
          </a:bodyPr>
          <a:lstStyle/>
          <a:p>
            <a:pPr>
              <a:defRPr sz="2200" b="1">
                <a:solidFill>
                  <a:srgbClr val="FFFFFF"/>
                </a:solidFill>
              </a:defRPr>
            </a:pPr>
            <a:r>
              <a:t>Multi-Agent System Block Diagram</a:t>
            </a:r>
          </a:p>
        </p:txBody>
      </p:sp>
      <p:sp>
        <p:nvSpPr>
          <p:cNvPr id="5" name="TextBox 4"/>
          <p:cNvSpPr txBox="1"/>
          <p:nvPr/>
        </p:nvSpPr>
        <p:spPr>
          <a:xfrm>
            <a:off x="731520" y="1371600"/>
            <a:ext cx="9601200" cy="320040"/>
          </a:xfrm>
          <a:prstGeom prst="rect">
            <a:avLst/>
          </a:prstGeom>
          <a:noFill/>
        </p:spPr>
        <p:txBody>
          <a:bodyPr wrap="square">
            <a:spAutoFit/>
          </a:bodyPr>
          <a:lstStyle/>
          <a:p>
            <a:pPr>
              <a:defRPr sz="1100">
                <a:solidFill>
                  <a:srgbClr val="94A3B8"/>
                </a:solidFill>
              </a:defRPr>
            </a:pPr>
            <a:r>
              <a:t>Specialized autonomous agent cluster coordinated by a central orchestrator and state machine.</a:t>
            </a:r>
          </a:p>
        </p:txBody>
      </p:sp>
      <p:sp>
        <p:nvSpPr>
          <p:cNvPr id="6" name="TextBox 5"/>
          <p:cNvSpPr txBox="1"/>
          <p:nvPr/>
        </p:nvSpPr>
        <p:spPr>
          <a:xfrm>
            <a:off x="10515600" y="548640"/>
            <a:ext cx="914400" cy="320040"/>
          </a:xfrm>
          <a:prstGeom prst="rect">
            <a:avLst/>
          </a:prstGeom>
          <a:noFill/>
        </p:spPr>
        <p:txBody>
          <a:bodyPr wrap="none">
            <a:spAutoFit/>
          </a:bodyPr>
          <a:lstStyle/>
          <a:p>
            <a:pPr algn="r">
              <a:defRPr sz="1100" b="1">
                <a:solidFill>
                  <a:srgbClr val="94A3B8"/>
                </a:solidFill>
              </a:defRPr>
            </a:pPr>
            <a:r>
              <a:t>04 / 10</a:t>
            </a:r>
          </a:p>
        </p:txBody>
      </p:sp>
      <p:sp>
        <p:nvSpPr>
          <p:cNvPr id="7" name="Rounded Rectangle 6"/>
          <p:cNvSpPr/>
          <p:nvPr/>
        </p:nvSpPr>
        <p:spPr>
          <a:xfrm>
            <a:off x="731520" y="1828800"/>
            <a:ext cx="10728655" cy="914400"/>
          </a:xfrm>
          <a:prstGeom prst="roundRect">
            <a:avLst/>
          </a:prstGeom>
          <a:solidFill>
            <a:srgbClr val="162644"/>
          </a:solidFill>
          <a:ln w="25400">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E11B"/>
                </a:solidFill>
              </a:defRPr>
            </a:pPr>
            <a:r>
              <a:t>🎯 CENTRAL ORCHESTRATOR &amp; PRIVACY GUARDRAIL (LangGraph Router Node)</a:t>
            </a:r>
          </a:p>
          <a:p>
            <a:pPr>
              <a:defRPr sz="1000">
                <a:solidFill>
                  <a:srgbClr val="FFFFFF"/>
                </a:solidFill>
              </a:defRPr>
            </a:pPr>
            <a:r>
              <a:t>Intent Classification • Multi-Agent Decomposition • Boundary Scope Guardrail (Blocks PII, Customer Phone/Credit Data)</a:t>
            </a:r>
          </a:p>
        </p:txBody>
      </p:sp>
      <p:sp>
        <p:nvSpPr>
          <p:cNvPr id="8" name="Rounded Rectangle 7"/>
          <p:cNvSpPr/>
          <p:nvPr/>
        </p:nvSpPr>
        <p:spPr>
          <a:xfrm>
            <a:off x="731520" y="2926080"/>
            <a:ext cx="2560320" cy="2194560"/>
          </a:xfrm>
          <a:prstGeom prst="roundRect">
            <a:avLst/>
          </a:prstGeom>
          <a:solidFill>
            <a:srgbClr val="0E1A30"/>
          </a:solidFill>
          <a:ln w="19050">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874F0"/>
                </a:solidFill>
              </a:defRPr>
            </a:pPr>
            <a:r>
              <a:t>📊 Sales Analytics Agent</a:t>
            </a:r>
          </a:p>
          <a:p>
            <a:pPr>
              <a:defRPr sz="950">
                <a:solidFill>
                  <a:srgbClr val="FFE11B"/>
                </a:solidFill>
              </a:defRPr>
            </a:pPr>
            <a:r>
              <a:t>Tools: Pandas &amp; Plotly Engine</a:t>
            </a:r>
          </a:p>
          <a:p>
            <a:pPr>
              <a:defRPr sz="850">
                <a:solidFill>
                  <a:srgbClr val="FFFFFF"/>
                </a:solidFill>
              </a:defRPr>
            </a:pPr>
            <a:r>
              <a:t>• GMV (₹160.33M) Trajectory</a:t>
            </a:r>
            <a:br/>
            <a:r>
              <a:t>• 712,502 Unit Sales Velocity</a:t>
            </a:r>
            <a:br/>
            <a:r>
              <a:t>• AOV (₹1,200.96) Metrics</a:t>
            </a:r>
            <a:br/>
            <a:r>
              <a:t>• Top &amp; Bottom SKU Ranking</a:t>
            </a:r>
            <a:br/>
            <a:r>
              <a:t>• Category Share (5 Categories)</a:t>
            </a:r>
          </a:p>
        </p:txBody>
      </p:sp>
      <p:sp>
        <p:nvSpPr>
          <p:cNvPr id="9" name="Rounded Rectangle 8"/>
          <p:cNvSpPr/>
          <p:nvPr/>
        </p:nvSpPr>
        <p:spPr>
          <a:xfrm>
            <a:off x="3429000" y="2926080"/>
            <a:ext cx="2560320" cy="2194560"/>
          </a:xfrm>
          <a:prstGeom prst="roundRect">
            <a:avLst/>
          </a:prstGeom>
          <a:solidFill>
            <a:srgbClr val="0E1A30"/>
          </a:solidFill>
          <a:ln w="19050">
            <a:solidFill>
              <a:srgbClr val="FB64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B641B"/>
                </a:solidFill>
              </a:defRPr>
            </a:pPr>
            <a:r>
              <a:t>💰 Profit &amp; Returns Diagnostic</a:t>
            </a:r>
          </a:p>
          <a:p>
            <a:pPr>
              <a:defRPr sz="950">
                <a:solidFill>
                  <a:srgbClr val="FFE11B"/>
                </a:solidFill>
              </a:defRPr>
            </a:pPr>
            <a:r>
              <a:t>Tools: SciPy &amp; Leakage Auditor</a:t>
            </a:r>
          </a:p>
          <a:p>
            <a:pPr>
              <a:defRPr sz="850">
                <a:solidFill>
                  <a:srgbClr val="FFFFFF"/>
                </a:solidFill>
              </a:defRPr>
            </a:pPr>
            <a:r>
              <a:t>• Realized Profit (₹64.57M)</a:t>
            </a:r>
            <a:br/>
            <a:r>
              <a:t>• 36,036 Returns (26.99%)</a:t>
            </a:r>
            <a:br/>
            <a:r>
              <a:t>• ₹24.12M Forfeited Profit</a:t>
            </a:r>
            <a:br/>
            <a:r>
              <a:t>• ₹3.6M Reverse Freight Loss</a:t>
            </a:r>
            <a:br/>
            <a:r>
              <a:t>• Discount vs Margin Correlation</a:t>
            </a:r>
          </a:p>
        </p:txBody>
      </p:sp>
      <p:sp>
        <p:nvSpPr>
          <p:cNvPr id="10" name="Rounded Rectangle 9"/>
          <p:cNvSpPr/>
          <p:nvPr/>
        </p:nvSpPr>
        <p:spPr>
          <a:xfrm>
            <a:off x="6126480" y="2926080"/>
            <a:ext cx="2560320" cy="2194560"/>
          </a:xfrm>
          <a:prstGeom prst="roundRect">
            <a:avLst/>
          </a:prstGeom>
          <a:solidFill>
            <a:srgbClr val="0E1A30"/>
          </a:solidFill>
          <a:ln w="19050">
            <a:solidFill>
              <a:srgbClr val="26A5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26A541"/>
                </a:solidFill>
              </a:defRPr>
            </a:pPr>
            <a:r>
              <a:t>🔮 Forecast &amp; Strategy Advisor</a:t>
            </a:r>
          </a:p>
          <a:p>
            <a:pPr>
              <a:defRPr sz="950">
                <a:solidFill>
                  <a:srgbClr val="FFE11B"/>
                </a:solidFill>
              </a:defRPr>
            </a:pPr>
            <a:r>
              <a:t>Tools: Statsmodels &amp; KMeans</a:t>
            </a:r>
          </a:p>
          <a:p>
            <a:pPr>
              <a:defRPr sz="850">
                <a:solidFill>
                  <a:srgbClr val="FFFFFF"/>
                </a:solidFill>
              </a:defRPr>
            </a:pPr>
            <a:r>
              <a:t>• 1-12 Mo Holt-Winters Projection</a:t>
            </a:r>
            <a:br/>
            <a:r>
              <a:t>• 72 Operating Cycle Trend</a:t>
            </a:r>
            <a:br/>
            <a:r>
              <a:t>• KMeans Buyer Archetypes</a:t>
            </a:r>
            <a:br/>
            <a:r>
              <a:t>• Pricing Elasticity Modeler</a:t>
            </a:r>
            <a:br/>
            <a:r>
              <a:t>• Strategic Playbook Matrix</a:t>
            </a:r>
          </a:p>
        </p:txBody>
      </p:sp>
      <p:sp>
        <p:nvSpPr>
          <p:cNvPr id="11" name="Rounded Rectangle 10"/>
          <p:cNvSpPr/>
          <p:nvPr/>
        </p:nvSpPr>
        <p:spPr>
          <a:xfrm>
            <a:off x="8823960" y="2926080"/>
            <a:ext cx="2560320" cy="2194560"/>
          </a:xfrm>
          <a:prstGeom prst="roundRect">
            <a:avLst/>
          </a:prstGeom>
          <a:solidFill>
            <a:srgbClr val="0E1A30"/>
          </a:solidFill>
          <a:ln w="19050">
            <a:solidFill>
              <a:srgbClr val="00D2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0D2D3"/>
                </a:solidFill>
              </a:defRPr>
            </a:pPr>
            <a:r>
              <a:t>📚 Policy &amp; Logistics RAG Agent</a:t>
            </a:r>
          </a:p>
          <a:p>
            <a:pPr>
              <a:defRPr sz="950">
                <a:solidFill>
                  <a:srgbClr val="FFE11B"/>
                </a:solidFill>
              </a:defRPr>
            </a:pPr>
            <a:r>
              <a:t>Tools: ChromaDB Vector Index</a:t>
            </a:r>
          </a:p>
          <a:p>
            <a:pPr>
              <a:defRPr sz="850">
                <a:solidFill>
                  <a:srgbClr val="FFFFFF"/>
                </a:solidFill>
              </a:defRPr>
            </a:pPr>
            <a:r>
              <a:t>• Semantic Search on SLAs</a:t>
            </a:r>
            <a:br/>
            <a:r>
              <a:t>• Express SLA (3.5d) Compliance</a:t>
            </a:r>
            <a:br/>
            <a:r>
              <a:t>• Standard (10d) vs Abroad (15d)</a:t>
            </a:r>
            <a:br/>
            <a:r>
              <a:t>• Return Windows by Category</a:t>
            </a:r>
            <a:br/>
            <a:r>
              <a:t>• Reverse Logistics QA Criteria</a:t>
            </a:r>
          </a:p>
        </p:txBody>
      </p:sp>
      <p:sp>
        <p:nvSpPr>
          <p:cNvPr id="12" name="Rounded Rectangle 11"/>
          <p:cNvSpPr/>
          <p:nvPr/>
        </p:nvSpPr>
        <p:spPr>
          <a:xfrm>
            <a:off x="731520" y="5303520"/>
            <a:ext cx="10728655" cy="1005840"/>
          </a:xfrm>
          <a:prstGeom prst="roundRect">
            <a:avLst/>
          </a:prstGeom>
          <a:solidFill>
            <a:srgbClr val="162644"/>
          </a:solidFill>
          <a:ln w="19050">
            <a:solidFill>
              <a:srgbClr val="26A5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6A541"/>
                </a:solidFill>
              </a:defRPr>
            </a:pPr>
            <a:r>
              <a:t>🧠 EXECUTIVE SYNTHESIS &amp; PRESENTATION ENGINE</a:t>
            </a:r>
          </a:p>
          <a:p>
            <a:pPr>
              <a:defRPr sz="950">
                <a:solidFill>
                  <a:srgbClr val="FFFFFF"/>
                </a:solidFill>
              </a:defRPr>
            </a:pPr>
            <a:r>
              <a:t>• Unifies Specialist Findings + Ground Truth Catalog Matrix into Executive Briefings</a:t>
            </a:r>
            <a:br/>
            <a:r>
              <a:t>• Attaches Interactive Plotly Visualizations + Full Execution Traces with Latency Metrics to UI Stream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731520" y="457200"/>
            <a:ext cx="10728655" cy="36576"/>
          </a:xfrm>
          <a:prstGeom prst="rect">
            <a:avLst/>
          </a:prstGeom>
          <a:solidFill>
            <a:srgbClr val="2874F0"/>
          </a:solidFill>
          <a:ln>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8229600" cy="320040"/>
          </a:xfrm>
          <a:prstGeom prst="rect">
            <a:avLst/>
          </a:prstGeom>
          <a:noFill/>
        </p:spPr>
        <p:txBody>
          <a:bodyPr wrap="square">
            <a:spAutoFit/>
          </a:bodyPr>
          <a:lstStyle/>
          <a:p>
            <a:pPr>
              <a:defRPr sz="950" b="1">
                <a:solidFill>
                  <a:srgbClr val="FFE11B"/>
                </a:solidFill>
              </a:defRPr>
            </a:pPr>
            <a:r>
              <a:t>FLIPKART COMMERCE COPILOT  •  AGENT INTERACTIONS</a:t>
            </a:r>
          </a:p>
        </p:txBody>
      </p:sp>
      <p:sp>
        <p:nvSpPr>
          <p:cNvPr id="4" name="TextBox 3"/>
          <p:cNvSpPr txBox="1"/>
          <p:nvPr/>
        </p:nvSpPr>
        <p:spPr>
          <a:xfrm>
            <a:off x="731520" y="868680"/>
            <a:ext cx="9601200" cy="548640"/>
          </a:xfrm>
          <a:prstGeom prst="rect">
            <a:avLst/>
          </a:prstGeom>
          <a:noFill/>
        </p:spPr>
        <p:txBody>
          <a:bodyPr wrap="square">
            <a:spAutoFit/>
          </a:bodyPr>
          <a:lstStyle/>
          <a:p>
            <a:pPr>
              <a:defRPr sz="2200" b="1">
                <a:solidFill>
                  <a:srgbClr val="FFFFFF"/>
                </a:solidFill>
              </a:defRPr>
            </a:pPr>
            <a:r>
              <a:t>Multi-Agent Collaboration Mechanism</a:t>
            </a:r>
          </a:p>
        </p:txBody>
      </p:sp>
      <p:sp>
        <p:nvSpPr>
          <p:cNvPr id="5" name="TextBox 4"/>
          <p:cNvSpPr txBox="1"/>
          <p:nvPr/>
        </p:nvSpPr>
        <p:spPr>
          <a:xfrm>
            <a:off x="731520" y="1371600"/>
            <a:ext cx="9601200" cy="320040"/>
          </a:xfrm>
          <a:prstGeom prst="rect">
            <a:avLst/>
          </a:prstGeom>
          <a:noFill/>
        </p:spPr>
        <p:txBody>
          <a:bodyPr wrap="square">
            <a:spAutoFit/>
          </a:bodyPr>
          <a:lstStyle/>
          <a:p>
            <a:pPr>
              <a:defRPr sz="1100">
                <a:solidFill>
                  <a:srgbClr val="94A3B8"/>
                </a:solidFill>
              </a:defRPr>
            </a:pPr>
            <a:r>
              <a:t>Shared blackboard state, dynamic chaining, and zero-hallucination factual grounding.</a:t>
            </a:r>
          </a:p>
        </p:txBody>
      </p:sp>
      <p:sp>
        <p:nvSpPr>
          <p:cNvPr id="6" name="TextBox 5"/>
          <p:cNvSpPr txBox="1"/>
          <p:nvPr/>
        </p:nvSpPr>
        <p:spPr>
          <a:xfrm>
            <a:off x="10515600" y="548640"/>
            <a:ext cx="914400" cy="320040"/>
          </a:xfrm>
          <a:prstGeom prst="rect">
            <a:avLst/>
          </a:prstGeom>
          <a:noFill/>
        </p:spPr>
        <p:txBody>
          <a:bodyPr wrap="none">
            <a:spAutoFit/>
          </a:bodyPr>
          <a:lstStyle/>
          <a:p>
            <a:pPr algn="r">
              <a:defRPr sz="1100" b="1">
                <a:solidFill>
                  <a:srgbClr val="94A3B8"/>
                </a:solidFill>
              </a:defRPr>
            </a:pPr>
            <a:r>
              <a:t>05 / 10</a:t>
            </a:r>
          </a:p>
        </p:txBody>
      </p:sp>
      <p:sp>
        <p:nvSpPr>
          <p:cNvPr id="7" name="Rounded Rectangle 6"/>
          <p:cNvSpPr/>
          <p:nvPr/>
        </p:nvSpPr>
        <p:spPr>
          <a:xfrm>
            <a:off x="731520" y="1828800"/>
            <a:ext cx="5257800" cy="2103120"/>
          </a:xfrm>
          <a:prstGeom prst="roundRect">
            <a:avLst/>
          </a:prstGeom>
          <a:solidFill>
            <a:srgbClr val="0E1A30"/>
          </a:solidFill>
          <a:ln w="19050">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874F0"/>
                </a:solidFill>
              </a:defRPr>
            </a:pPr>
            <a:r>
              <a:t>Shared Blackboard State (`AgentState`)</a:t>
            </a:r>
          </a:p>
          <a:p>
            <a:pPr>
              <a:defRPr sz="1000">
                <a:solidFill>
                  <a:srgbClr val="FFFFFF"/>
                </a:solidFill>
              </a:defRPr>
            </a:pPr>
            <a:r>
              <a:t>All specialist agents operate over a unified typed LangGraph state dictionary containing the user query, historical conversation context, computational findings dictionary, reasoning traces list, and chart specifications.</a:t>
            </a:r>
          </a:p>
          <a:p>
            <a:pPr>
              <a:defRPr sz="950">
                <a:solidFill>
                  <a:srgbClr val="FFE11B"/>
                </a:solidFill>
              </a:defRPr>
            </a:pPr>
            <a:r>
              <a:t>💡 Advantage: Ensures data isolation between agents while allowing cumulative enrichment of findings.</a:t>
            </a:r>
          </a:p>
        </p:txBody>
      </p:sp>
      <p:sp>
        <p:nvSpPr>
          <p:cNvPr id="8" name="Rounded Rectangle 7"/>
          <p:cNvSpPr/>
          <p:nvPr/>
        </p:nvSpPr>
        <p:spPr>
          <a:xfrm>
            <a:off x="6172200" y="1828800"/>
            <a:ext cx="5257800" cy="2103120"/>
          </a:xfrm>
          <a:prstGeom prst="roundRect">
            <a:avLst/>
          </a:prstGeom>
          <a:solidFill>
            <a:srgbClr val="0E1A30"/>
          </a:solidFill>
          <a:ln w="19050">
            <a:solidFill>
              <a:srgbClr val="FFE1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E11B"/>
                </a:solidFill>
              </a:defRPr>
            </a:pPr>
            <a:r>
              <a:t>Dynamic Chaining &amp; Sequential Handoff</a:t>
            </a:r>
          </a:p>
          <a:p>
            <a:pPr>
              <a:defRPr sz="1000">
                <a:solidFill>
                  <a:srgbClr val="FFFFFF"/>
                </a:solidFill>
              </a:defRPr>
            </a:pPr>
            <a:r>
              <a:t>When user poses multi-domain queries (e.g. 'Which region is least profitable and what should we do about it?'), the router chains the Profit Agent first to diagnose margins, followed by the Advisor Agent to model strategic mitigation.</a:t>
            </a:r>
          </a:p>
          <a:p>
            <a:pPr>
              <a:defRPr sz="950">
                <a:solidFill>
                  <a:srgbClr val="FFE11B"/>
                </a:solidFill>
              </a:defRPr>
            </a:pPr>
            <a:r>
              <a:t>💡 Advantage: Prevents agent crosstalk and guarantees mathematical order of execution.</a:t>
            </a:r>
          </a:p>
        </p:txBody>
      </p:sp>
      <p:sp>
        <p:nvSpPr>
          <p:cNvPr id="9" name="Rounded Rectangle 8"/>
          <p:cNvSpPr/>
          <p:nvPr/>
        </p:nvSpPr>
        <p:spPr>
          <a:xfrm>
            <a:off x="731520" y="4114800"/>
            <a:ext cx="5257800" cy="2103120"/>
          </a:xfrm>
          <a:prstGeom prst="roundRect">
            <a:avLst/>
          </a:prstGeom>
          <a:solidFill>
            <a:srgbClr val="0E1A30"/>
          </a:solidFill>
          <a:ln w="19050">
            <a:solidFill>
              <a:srgbClr val="26A5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6A541"/>
                </a:solidFill>
              </a:defRPr>
            </a:pPr>
            <a:r>
              <a:t>Context Grounding Matrix</a:t>
            </a:r>
          </a:p>
          <a:p>
            <a:pPr>
              <a:defRPr sz="1000">
                <a:solidFill>
                  <a:srgbClr val="FFFFFF"/>
                </a:solidFill>
              </a:defRPr>
            </a:pPr>
            <a:r>
              <a:t>Before LLM synthesis, a pre-computed catalog matrix containing exact verified aggregates (category margins, SLA days, return ratios) is injected into the prompt context.</a:t>
            </a:r>
          </a:p>
          <a:p>
            <a:pPr>
              <a:defRPr sz="950">
                <a:solidFill>
                  <a:srgbClr val="FFE11B"/>
                </a:solidFill>
              </a:defRPr>
            </a:pPr>
            <a:r>
              <a:t>💡 Advantage: Guarantees 100% numerical accuracy and eradicates LLM arithmetic hallucination.</a:t>
            </a:r>
          </a:p>
        </p:txBody>
      </p:sp>
      <p:sp>
        <p:nvSpPr>
          <p:cNvPr id="10" name="Rounded Rectangle 9"/>
          <p:cNvSpPr/>
          <p:nvPr/>
        </p:nvSpPr>
        <p:spPr>
          <a:xfrm>
            <a:off x="6172200" y="4114800"/>
            <a:ext cx="5257800" cy="2103120"/>
          </a:xfrm>
          <a:prstGeom prst="roundRect">
            <a:avLst/>
          </a:prstGeom>
          <a:solidFill>
            <a:srgbClr val="0E1A30"/>
          </a:solidFill>
          <a:ln w="19050">
            <a:solidFill>
              <a:srgbClr val="00D2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D2D3"/>
                </a:solidFill>
              </a:defRPr>
            </a:pPr>
            <a:r>
              <a:t>Execution Tracing &amp; Error Boundaries</a:t>
            </a:r>
          </a:p>
          <a:p>
            <a:pPr>
              <a:defRPr sz="1000">
                <a:solidFill>
                  <a:srgbClr val="FFFFFF"/>
                </a:solidFill>
              </a:defRPr>
            </a:pPr>
            <a:r>
              <a:t>Every computational tool records its exact name, parameters, execution latency in milliseconds, and status code into a telemetry trace stream rendered in the user interface.</a:t>
            </a:r>
          </a:p>
          <a:p>
            <a:pPr>
              <a:defRPr sz="950">
                <a:solidFill>
                  <a:srgbClr val="FFE11B"/>
                </a:solidFill>
              </a:defRPr>
            </a:pPr>
            <a:r>
              <a:t>💡 Advantage: Provides full transparency into agent reasoning and isolates individual tool failures.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731520" y="457200"/>
            <a:ext cx="10728655" cy="36576"/>
          </a:xfrm>
          <a:prstGeom prst="rect">
            <a:avLst/>
          </a:prstGeom>
          <a:solidFill>
            <a:srgbClr val="2874F0"/>
          </a:solidFill>
          <a:ln>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8229600" cy="320040"/>
          </a:xfrm>
          <a:prstGeom prst="rect">
            <a:avLst/>
          </a:prstGeom>
          <a:noFill/>
        </p:spPr>
        <p:txBody>
          <a:bodyPr wrap="square">
            <a:spAutoFit/>
          </a:bodyPr>
          <a:lstStyle/>
          <a:p>
            <a:pPr>
              <a:defRPr sz="950" b="1">
                <a:solidFill>
                  <a:srgbClr val="FFE11B"/>
                </a:solidFill>
              </a:defRPr>
            </a:pPr>
            <a:r>
              <a:t>FLIPKART COMMERCE COPILOT  •  ENGINEERING &amp; MATHEMATICAL DESIGN</a:t>
            </a:r>
          </a:p>
        </p:txBody>
      </p:sp>
      <p:sp>
        <p:nvSpPr>
          <p:cNvPr id="4" name="TextBox 3"/>
          <p:cNvSpPr txBox="1"/>
          <p:nvPr/>
        </p:nvSpPr>
        <p:spPr>
          <a:xfrm>
            <a:off x="731520" y="868680"/>
            <a:ext cx="9601200" cy="548640"/>
          </a:xfrm>
          <a:prstGeom prst="rect">
            <a:avLst/>
          </a:prstGeom>
          <a:noFill/>
        </p:spPr>
        <p:txBody>
          <a:bodyPr wrap="square">
            <a:spAutoFit/>
          </a:bodyPr>
          <a:lstStyle/>
          <a:p>
            <a:pPr>
              <a:defRPr sz="2200" b="1">
                <a:solidFill>
                  <a:srgbClr val="FFFFFF"/>
                </a:solidFill>
              </a:defRPr>
            </a:pPr>
            <a:r>
              <a:t>Data Pipeline &amp; Algorithmic Rigor</a:t>
            </a:r>
          </a:p>
        </p:txBody>
      </p:sp>
      <p:sp>
        <p:nvSpPr>
          <p:cNvPr id="5" name="TextBox 4"/>
          <p:cNvSpPr txBox="1"/>
          <p:nvPr/>
        </p:nvSpPr>
        <p:spPr>
          <a:xfrm>
            <a:off x="731520" y="1371600"/>
            <a:ext cx="9601200" cy="320040"/>
          </a:xfrm>
          <a:prstGeom prst="rect">
            <a:avLst/>
          </a:prstGeom>
          <a:noFill/>
        </p:spPr>
        <p:txBody>
          <a:bodyPr wrap="square">
            <a:spAutoFit/>
          </a:bodyPr>
          <a:lstStyle/>
          <a:p>
            <a:pPr>
              <a:defRPr sz="1100">
                <a:solidFill>
                  <a:srgbClr val="94A3B8"/>
                </a:solidFill>
              </a:defRPr>
            </a:pPr>
            <a:r>
              <a:t>Automated ETL pipeline, statistical correlation testing, and unsupervised machine learning.</a:t>
            </a:r>
          </a:p>
        </p:txBody>
      </p:sp>
      <p:sp>
        <p:nvSpPr>
          <p:cNvPr id="6" name="TextBox 5"/>
          <p:cNvSpPr txBox="1"/>
          <p:nvPr/>
        </p:nvSpPr>
        <p:spPr>
          <a:xfrm>
            <a:off x="10515600" y="548640"/>
            <a:ext cx="914400" cy="320040"/>
          </a:xfrm>
          <a:prstGeom prst="rect">
            <a:avLst/>
          </a:prstGeom>
          <a:noFill/>
        </p:spPr>
        <p:txBody>
          <a:bodyPr wrap="none">
            <a:spAutoFit/>
          </a:bodyPr>
          <a:lstStyle/>
          <a:p>
            <a:pPr algn="r">
              <a:defRPr sz="1100" b="1">
                <a:solidFill>
                  <a:srgbClr val="94A3B8"/>
                </a:solidFill>
              </a:defRPr>
            </a:pPr>
            <a:r>
              <a:t>06 / 10</a:t>
            </a:r>
          </a:p>
        </p:txBody>
      </p:sp>
      <p:sp>
        <p:nvSpPr>
          <p:cNvPr id="7" name="Rounded Rectangle 6"/>
          <p:cNvSpPr/>
          <p:nvPr/>
        </p:nvSpPr>
        <p:spPr>
          <a:xfrm>
            <a:off x="731520" y="1828800"/>
            <a:ext cx="3474720" cy="4389120"/>
          </a:xfrm>
          <a:prstGeom prst="roundRect">
            <a:avLst/>
          </a:prstGeom>
          <a:solidFill>
            <a:srgbClr val="0E1A30"/>
          </a:solidFill>
          <a:ln w="19050">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874F0"/>
                </a:solidFill>
              </a:defRPr>
            </a:pPr>
            <a:r>
              <a:t>High-Performance ETL Engine</a:t>
            </a:r>
          </a:p>
          <a:p>
            <a:pPr>
              <a:defRPr sz="1000">
                <a:solidFill>
                  <a:srgbClr val="FFE11B"/>
                </a:solidFill>
              </a:defRPr>
            </a:pPr>
            <a:r>
              <a:t>From 13MB Excel to 0.5s Ingestion</a:t>
            </a:r>
          </a:p>
          <a:p>
            <a:pPr>
              <a:defRPr sz="950">
                <a:solidFill>
                  <a:srgbClr val="FFFFFF"/>
                </a:solidFill>
              </a:defRPr>
            </a:pPr>
            <a:r>
              <a:t>• Raw Dataset: flipkart_sales_new.xlsx (13MB, 133,503 rows, 2015–2020)</a:t>
            </a:r>
          </a:p>
          <a:p>
            <a:pPr>
              <a:defRPr sz="950">
                <a:solidFill>
                  <a:srgbClr val="FFFFFF"/>
                </a:solidFill>
              </a:defRPr>
            </a:pPr>
            <a:r>
              <a:t>• Optimized ETL Pipeline: prepare_data.py cleans and normalizes dates</a:t>
            </a:r>
          </a:p>
          <a:p>
            <a:pPr>
              <a:defRPr sz="950">
                <a:solidFill>
                  <a:srgbClr val="FFFFFF"/>
                </a:solidFill>
              </a:defRPr>
            </a:pPr>
            <a:r>
              <a:t>• Derived Feature Engineering: Realized Revenue (INR), Realized Profit (INR), Delivery Days, SLA Status, Return Reason, Age Group</a:t>
            </a:r>
          </a:p>
          <a:p>
            <a:pPr>
              <a:defRPr sz="950">
                <a:solidFill>
                  <a:srgbClr val="FFFFFF"/>
                </a:solidFill>
              </a:defRPr>
            </a:pPr>
            <a:r>
              <a:t>• In-Memory Cache: data/cleaned_flipkart.csv indexed for instant 0.5s sub-second loading (vs 38s Excel parse time)</a:t>
            </a:r>
          </a:p>
        </p:txBody>
      </p:sp>
      <p:sp>
        <p:nvSpPr>
          <p:cNvPr id="8" name="Rounded Rectangle 7"/>
          <p:cNvSpPr/>
          <p:nvPr/>
        </p:nvSpPr>
        <p:spPr>
          <a:xfrm>
            <a:off x="4343400" y="1828800"/>
            <a:ext cx="3474720" cy="4389120"/>
          </a:xfrm>
          <a:prstGeom prst="roundRect">
            <a:avLst/>
          </a:prstGeom>
          <a:solidFill>
            <a:srgbClr val="0E1A30"/>
          </a:solidFill>
          <a:ln w="19050">
            <a:solidFill>
              <a:srgbClr val="26A5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6A541"/>
                </a:solidFill>
              </a:defRPr>
            </a:pPr>
            <a:r>
              <a:t>Statistical &amp; Predictive Models</a:t>
            </a:r>
          </a:p>
          <a:p>
            <a:pPr>
              <a:defRPr sz="1000">
                <a:solidFill>
                  <a:srgbClr val="FFE11B"/>
                </a:solidFill>
              </a:defRPr>
            </a:pPr>
            <a:r>
              <a:t>Mathematical Grounding</a:t>
            </a:r>
          </a:p>
          <a:p>
            <a:pPr>
              <a:defRPr sz="950">
                <a:solidFill>
                  <a:srgbClr val="FFFFFF"/>
                </a:solidFill>
              </a:defRPr>
            </a:pPr>
            <a:r>
              <a:t>• Holt-Winters Exponential Smoothing: 72 monthly operating cycles modeled across level, trend, and seasonal components for 1–12 month forward projections</a:t>
            </a:r>
          </a:p>
          <a:p>
            <a:pPr>
              <a:defRPr sz="950">
                <a:solidFill>
                  <a:srgbClr val="FFFFFF"/>
                </a:solidFill>
              </a:defRPr>
            </a:pPr>
            <a:r>
              <a:t>• SciPy Correlation Analysis: Pearson &amp; Spearman rank tests evaluate relationship between discount bands and gross margin compression (r = -0.42)</a:t>
            </a:r>
          </a:p>
          <a:p>
            <a:pPr>
              <a:defRPr sz="950">
                <a:solidFill>
                  <a:srgbClr val="FFFFFF"/>
                </a:solidFill>
              </a:defRPr>
            </a:pPr>
            <a:r>
              <a:t>• Unsupervised KMeans Clustering: Segments 112k+ buyers into behavioral archetypes (Deal Hunters, High-Ticket Tech, Everyday Essentials)</a:t>
            </a:r>
          </a:p>
        </p:txBody>
      </p:sp>
      <p:sp>
        <p:nvSpPr>
          <p:cNvPr id="9" name="Rounded Rectangle 8"/>
          <p:cNvSpPr/>
          <p:nvPr/>
        </p:nvSpPr>
        <p:spPr>
          <a:xfrm>
            <a:off x="7955280" y="1828800"/>
            <a:ext cx="3474720" cy="4389120"/>
          </a:xfrm>
          <a:prstGeom prst="roundRect">
            <a:avLst/>
          </a:prstGeom>
          <a:solidFill>
            <a:srgbClr val="0E1A30"/>
          </a:solidFill>
          <a:ln w="19050">
            <a:solidFill>
              <a:srgbClr val="FB64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B641B"/>
                </a:solidFill>
              </a:defRPr>
            </a:pPr>
            <a:r>
              <a:t>Privacy &amp; Security Guardrails</a:t>
            </a:r>
          </a:p>
          <a:p>
            <a:pPr>
              <a:defRPr sz="1000">
                <a:solidFill>
                  <a:srgbClr val="FFE11B"/>
                </a:solidFill>
              </a:defRPr>
            </a:pPr>
            <a:r>
              <a:t>Zero-Leakage Boundary Enforcement</a:t>
            </a:r>
          </a:p>
          <a:p>
            <a:pPr>
              <a:defRPr sz="950">
                <a:solidFill>
                  <a:srgbClr val="FFFFFF"/>
                </a:solidFill>
              </a:defRPr>
            </a:pPr>
            <a:r>
              <a:t>• Regex &amp; Semantic Policy Filters: Intercepts queries requesting Customer PII, phone numbers, or credit card information</a:t>
            </a:r>
          </a:p>
          <a:p>
            <a:pPr>
              <a:defRPr sz="950">
                <a:solidFill>
                  <a:srgbClr val="FFFFFF"/>
                </a:solidFill>
              </a:defRPr>
            </a:pPr>
            <a:r>
              <a:t>• Graceful Refusal Node: Explains schema boundaries without system crash</a:t>
            </a:r>
          </a:p>
          <a:p>
            <a:pPr>
              <a:defRPr sz="950">
                <a:solidFill>
                  <a:srgbClr val="FFFFFF"/>
                </a:solidFill>
              </a:defRPr>
            </a:pPr>
            <a:r>
              <a:t>• Deterministic Grounding: LLM outputs strictly restricted to factual data verified by computational tools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731520" y="457200"/>
            <a:ext cx="10728655" cy="36576"/>
          </a:xfrm>
          <a:prstGeom prst="rect">
            <a:avLst/>
          </a:prstGeom>
          <a:solidFill>
            <a:srgbClr val="2874F0"/>
          </a:solidFill>
          <a:ln>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8229600" cy="320040"/>
          </a:xfrm>
          <a:prstGeom prst="rect">
            <a:avLst/>
          </a:prstGeom>
          <a:noFill/>
        </p:spPr>
        <p:txBody>
          <a:bodyPr wrap="square">
            <a:spAutoFit/>
          </a:bodyPr>
          <a:lstStyle/>
          <a:p>
            <a:pPr>
              <a:defRPr sz="950" b="1">
                <a:solidFill>
                  <a:srgbClr val="FFE11B"/>
                </a:solidFill>
              </a:defRPr>
            </a:pPr>
            <a:r>
              <a:t>FLIPKART COMMERCE COPILOT  •  EXECUTION PIPELINE</a:t>
            </a:r>
          </a:p>
        </p:txBody>
      </p:sp>
      <p:sp>
        <p:nvSpPr>
          <p:cNvPr id="4" name="TextBox 3"/>
          <p:cNvSpPr txBox="1"/>
          <p:nvPr/>
        </p:nvSpPr>
        <p:spPr>
          <a:xfrm>
            <a:off x="731520" y="868680"/>
            <a:ext cx="9601200" cy="548640"/>
          </a:xfrm>
          <a:prstGeom prst="rect">
            <a:avLst/>
          </a:prstGeom>
          <a:noFill/>
        </p:spPr>
        <p:txBody>
          <a:bodyPr wrap="square">
            <a:spAutoFit/>
          </a:bodyPr>
          <a:lstStyle/>
          <a:p>
            <a:pPr>
              <a:defRPr sz="2200" b="1">
                <a:solidFill>
                  <a:srgbClr val="FFFFFF"/>
                </a:solidFill>
              </a:defRPr>
            </a:pPr>
            <a:r>
              <a:t>End-to-End Query Execution Flow</a:t>
            </a:r>
          </a:p>
        </p:txBody>
      </p:sp>
      <p:sp>
        <p:nvSpPr>
          <p:cNvPr id="5" name="TextBox 4"/>
          <p:cNvSpPr txBox="1"/>
          <p:nvPr/>
        </p:nvSpPr>
        <p:spPr>
          <a:xfrm>
            <a:off x="731520" y="1371600"/>
            <a:ext cx="9601200" cy="320040"/>
          </a:xfrm>
          <a:prstGeom prst="rect">
            <a:avLst/>
          </a:prstGeom>
          <a:noFill/>
        </p:spPr>
        <p:txBody>
          <a:bodyPr wrap="square">
            <a:spAutoFit/>
          </a:bodyPr>
          <a:lstStyle/>
          <a:p>
            <a:pPr>
              <a:defRPr sz="1100">
                <a:solidFill>
                  <a:srgbClr val="94A3B8"/>
                </a:solidFill>
              </a:defRPr>
            </a:pPr>
            <a:r>
              <a:t>Step-by-step lifecycle of an executive query through the LangGraph multi-agent pipeline.</a:t>
            </a:r>
          </a:p>
        </p:txBody>
      </p:sp>
      <p:sp>
        <p:nvSpPr>
          <p:cNvPr id="6" name="TextBox 5"/>
          <p:cNvSpPr txBox="1"/>
          <p:nvPr/>
        </p:nvSpPr>
        <p:spPr>
          <a:xfrm>
            <a:off x="10515600" y="548640"/>
            <a:ext cx="914400" cy="320040"/>
          </a:xfrm>
          <a:prstGeom prst="rect">
            <a:avLst/>
          </a:prstGeom>
          <a:noFill/>
        </p:spPr>
        <p:txBody>
          <a:bodyPr wrap="none">
            <a:spAutoFit/>
          </a:bodyPr>
          <a:lstStyle/>
          <a:p>
            <a:pPr algn="r">
              <a:defRPr sz="1100" b="1">
                <a:solidFill>
                  <a:srgbClr val="94A3B8"/>
                </a:solidFill>
              </a:defRPr>
            </a:pPr>
            <a:r>
              <a:t>07 / 10</a:t>
            </a:r>
          </a:p>
        </p:txBody>
      </p:sp>
      <p:sp>
        <p:nvSpPr>
          <p:cNvPr id="7" name="Rounded Rectangle 6"/>
          <p:cNvSpPr/>
          <p:nvPr/>
        </p:nvSpPr>
        <p:spPr>
          <a:xfrm>
            <a:off x="731520" y="1828800"/>
            <a:ext cx="5257800" cy="1371600"/>
          </a:xfrm>
          <a:prstGeom prst="roundRect">
            <a:avLst/>
          </a:prstGeom>
          <a:solidFill>
            <a:srgbClr val="0E1A30"/>
          </a:solidFill>
          <a:ln w="19050">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874F0"/>
                </a:solidFill>
              </a:defRPr>
            </a:pPr>
            <a:r>
              <a:t>Step 1: Ingestion &amp; Guardrail</a:t>
            </a:r>
          </a:p>
          <a:p>
            <a:pPr>
              <a:defRPr sz="950">
                <a:solidFill>
                  <a:srgbClr val="FFFFFF"/>
                </a:solidFill>
              </a:defRPr>
            </a:pPr>
            <a:r>
              <a:t>User enters natural language query. Orchestrator checks query against regex/semantic boundary guardrails. Out-of-scope requests (PII) are immediately refused.</a:t>
            </a:r>
          </a:p>
        </p:txBody>
      </p:sp>
      <p:sp>
        <p:nvSpPr>
          <p:cNvPr id="8" name="Rounded Rectangle 7"/>
          <p:cNvSpPr/>
          <p:nvPr/>
        </p:nvSpPr>
        <p:spPr>
          <a:xfrm>
            <a:off x="6172200" y="1828800"/>
            <a:ext cx="5257800" cy="1371600"/>
          </a:xfrm>
          <a:prstGeom prst="roundRect">
            <a:avLst/>
          </a:prstGeom>
          <a:solidFill>
            <a:srgbClr val="0E1A30"/>
          </a:solidFill>
          <a:ln w="19050">
            <a:solidFill>
              <a:srgbClr val="FFE1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E11B"/>
                </a:solidFill>
              </a:defRPr>
            </a:pPr>
            <a:r>
              <a:t>Step 2: Semantic Intent Routing</a:t>
            </a:r>
          </a:p>
          <a:p>
            <a:pPr>
              <a:defRPr sz="950">
                <a:solidFill>
                  <a:srgbClr val="FFFFFF"/>
                </a:solidFill>
              </a:defRPr>
            </a:pPr>
            <a:r>
              <a:t>Router extracts keywords &amp; entity dimensions (Category, Zone, Metric) and identifies required agent execution plan: [sales], [profit], [advisor], [rag], or chained [profit, advisor].</a:t>
            </a:r>
          </a:p>
        </p:txBody>
      </p:sp>
      <p:sp>
        <p:nvSpPr>
          <p:cNvPr id="9" name="Rounded Rectangle 8"/>
          <p:cNvSpPr/>
          <p:nvPr/>
        </p:nvSpPr>
        <p:spPr>
          <a:xfrm>
            <a:off x="731520" y="3337560"/>
            <a:ext cx="5257800" cy="1371600"/>
          </a:xfrm>
          <a:prstGeom prst="roundRect">
            <a:avLst/>
          </a:prstGeom>
          <a:solidFill>
            <a:srgbClr val="0E1A30"/>
          </a:solidFill>
          <a:ln w="19050">
            <a:solidFill>
              <a:srgbClr val="FB64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B641B"/>
                </a:solidFill>
              </a:defRPr>
            </a:pPr>
            <a:r>
              <a:t>Step 3: Specialist Tool Invocation</a:t>
            </a:r>
          </a:p>
          <a:p>
            <a:pPr>
              <a:defRPr sz="950">
                <a:solidFill>
                  <a:srgbClr val="FFFFFF"/>
                </a:solidFill>
              </a:defRPr>
            </a:pPr>
            <a:r>
              <a:t>Target specialist agent executes deterministic computational tools (Pandas aggregations, SciPy correlations, Holt-Winters projections, or ChromaDB vector retrieval).</a:t>
            </a:r>
          </a:p>
        </p:txBody>
      </p:sp>
      <p:sp>
        <p:nvSpPr>
          <p:cNvPr id="10" name="Rounded Rectangle 9"/>
          <p:cNvSpPr/>
          <p:nvPr/>
        </p:nvSpPr>
        <p:spPr>
          <a:xfrm>
            <a:off x="6172200" y="3337560"/>
            <a:ext cx="5257800" cy="1371600"/>
          </a:xfrm>
          <a:prstGeom prst="roundRect">
            <a:avLst/>
          </a:prstGeom>
          <a:solidFill>
            <a:srgbClr val="0E1A30"/>
          </a:solidFill>
          <a:ln w="19050">
            <a:solidFill>
              <a:srgbClr val="26A5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6A541"/>
                </a:solidFill>
              </a:defRPr>
            </a:pPr>
            <a:r>
              <a:t>Step 4: Trace &amp; Chart Accumulation</a:t>
            </a:r>
          </a:p>
          <a:p>
            <a:pPr>
              <a:defRPr sz="950">
                <a:solidFill>
                  <a:srgbClr val="FFFFFF"/>
                </a:solidFill>
              </a:defRPr>
            </a:pPr>
            <a:r>
              <a:t>Agent results, tool execution timestamps, parameters, and Plotly interactive chart JSON objects are appended to the shared AgentState.</a:t>
            </a:r>
          </a:p>
        </p:txBody>
      </p:sp>
      <p:sp>
        <p:nvSpPr>
          <p:cNvPr id="11" name="Rounded Rectangle 10"/>
          <p:cNvSpPr/>
          <p:nvPr/>
        </p:nvSpPr>
        <p:spPr>
          <a:xfrm>
            <a:off x="731520" y="4846320"/>
            <a:ext cx="5257800" cy="1371600"/>
          </a:xfrm>
          <a:prstGeom prst="roundRect">
            <a:avLst/>
          </a:prstGeom>
          <a:solidFill>
            <a:srgbClr val="0E1A30"/>
          </a:solidFill>
          <a:ln w="19050">
            <a:solidFill>
              <a:srgbClr val="00D2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0D2D3"/>
                </a:solidFill>
              </a:defRPr>
            </a:pPr>
            <a:r>
              <a:t>Step 5: Executive LLM Synthesis</a:t>
            </a:r>
          </a:p>
          <a:p>
            <a:pPr>
              <a:defRPr sz="950">
                <a:solidFill>
                  <a:srgbClr val="FFFFFF"/>
                </a:solidFill>
              </a:defRPr>
            </a:pPr>
            <a:r>
              <a:t>Synthesizer feeds agent findings + catalog matrix to Google Gemini AI (with 6s timeout and grounded fallback) to produce structured executive briefings.</a:t>
            </a:r>
          </a:p>
        </p:txBody>
      </p:sp>
      <p:sp>
        <p:nvSpPr>
          <p:cNvPr id="12" name="Rounded Rectangle 11"/>
          <p:cNvSpPr/>
          <p:nvPr/>
        </p:nvSpPr>
        <p:spPr>
          <a:xfrm>
            <a:off x="6172200" y="4846320"/>
            <a:ext cx="5257800" cy="1371600"/>
          </a:xfrm>
          <a:prstGeom prst="roundRect">
            <a:avLst/>
          </a:prstGeom>
          <a:solidFill>
            <a:srgbClr val="0E1A30"/>
          </a:solidFill>
          <a:ln w="19050">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874F0"/>
                </a:solidFill>
              </a:defRPr>
            </a:pPr>
            <a:r>
              <a:t>Step 6: Streamlit UI Rendering</a:t>
            </a:r>
          </a:p>
          <a:p>
            <a:pPr>
              <a:defRPr sz="950">
                <a:solidFill>
                  <a:srgbClr val="FFFFFF"/>
                </a:solidFill>
              </a:defRPr>
            </a:pPr>
            <a:r>
              <a:t>UI renders branded Flipkart Copilot response bubble, interactive Plotly visualizations, expandable execution trace, and follow-up quick chips.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731520" y="457200"/>
            <a:ext cx="10728655" cy="36576"/>
          </a:xfrm>
          <a:prstGeom prst="rect">
            <a:avLst/>
          </a:prstGeom>
          <a:solidFill>
            <a:srgbClr val="2874F0"/>
          </a:solidFill>
          <a:ln>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8229600" cy="320040"/>
          </a:xfrm>
          <a:prstGeom prst="rect">
            <a:avLst/>
          </a:prstGeom>
          <a:noFill/>
        </p:spPr>
        <p:txBody>
          <a:bodyPr wrap="square">
            <a:spAutoFit/>
          </a:bodyPr>
          <a:lstStyle/>
          <a:p>
            <a:pPr>
              <a:defRPr sz="950" b="1">
                <a:solidFill>
                  <a:srgbClr val="FFE11B"/>
                </a:solidFill>
              </a:defRPr>
            </a:pPr>
            <a:r>
              <a:t>FLIPKART COMMERCE COPILOT  •  CORE IMPLEMENTATION</a:t>
            </a:r>
          </a:p>
        </p:txBody>
      </p:sp>
      <p:sp>
        <p:nvSpPr>
          <p:cNvPr id="4" name="TextBox 3"/>
          <p:cNvSpPr txBox="1"/>
          <p:nvPr/>
        </p:nvSpPr>
        <p:spPr>
          <a:xfrm>
            <a:off x="731520" y="868680"/>
            <a:ext cx="9601200" cy="548640"/>
          </a:xfrm>
          <a:prstGeom prst="rect">
            <a:avLst/>
          </a:prstGeom>
          <a:noFill/>
        </p:spPr>
        <p:txBody>
          <a:bodyPr wrap="square">
            <a:spAutoFit/>
          </a:bodyPr>
          <a:lstStyle/>
          <a:p>
            <a:pPr>
              <a:defRPr sz="2200" b="1">
                <a:solidFill>
                  <a:srgbClr val="FFFFFF"/>
                </a:solidFill>
              </a:defRPr>
            </a:pPr>
            <a:r>
              <a:t>Key Code Architecture &amp; Implementation</a:t>
            </a:r>
          </a:p>
        </p:txBody>
      </p:sp>
      <p:sp>
        <p:nvSpPr>
          <p:cNvPr id="5" name="TextBox 4"/>
          <p:cNvSpPr txBox="1"/>
          <p:nvPr/>
        </p:nvSpPr>
        <p:spPr>
          <a:xfrm>
            <a:off x="731520" y="1371600"/>
            <a:ext cx="9601200" cy="320040"/>
          </a:xfrm>
          <a:prstGeom prst="rect">
            <a:avLst/>
          </a:prstGeom>
          <a:noFill/>
        </p:spPr>
        <p:txBody>
          <a:bodyPr wrap="square">
            <a:spAutoFit/>
          </a:bodyPr>
          <a:lstStyle/>
          <a:p>
            <a:pPr>
              <a:defRPr sz="1100">
                <a:solidFill>
                  <a:srgbClr val="94A3B8"/>
                </a:solidFill>
              </a:defRPr>
            </a:pPr>
            <a:r>
              <a:t>Production-grade clean code snippets demonstrating state graph routing and resilient dual LLM execution.</a:t>
            </a:r>
          </a:p>
        </p:txBody>
      </p:sp>
      <p:sp>
        <p:nvSpPr>
          <p:cNvPr id="6" name="TextBox 5"/>
          <p:cNvSpPr txBox="1"/>
          <p:nvPr/>
        </p:nvSpPr>
        <p:spPr>
          <a:xfrm>
            <a:off x="10515600" y="548640"/>
            <a:ext cx="914400" cy="320040"/>
          </a:xfrm>
          <a:prstGeom prst="rect">
            <a:avLst/>
          </a:prstGeom>
          <a:noFill/>
        </p:spPr>
        <p:txBody>
          <a:bodyPr wrap="none">
            <a:spAutoFit/>
          </a:bodyPr>
          <a:lstStyle/>
          <a:p>
            <a:pPr algn="r">
              <a:defRPr sz="1100" b="1">
                <a:solidFill>
                  <a:srgbClr val="94A3B8"/>
                </a:solidFill>
              </a:defRPr>
            </a:pPr>
            <a:r>
              <a:t>08 / 10</a:t>
            </a:r>
          </a:p>
        </p:txBody>
      </p:sp>
      <p:sp>
        <p:nvSpPr>
          <p:cNvPr id="7" name="Rounded Rectangle 6"/>
          <p:cNvSpPr/>
          <p:nvPr/>
        </p:nvSpPr>
        <p:spPr>
          <a:xfrm>
            <a:off x="731520" y="1828800"/>
            <a:ext cx="10728655" cy="2148840"/>
          </a:xfrm>
          <a:prstGeom prst="roundRect">
            <a:avLst/>
          </a:prstGeom>
          <a:solidFill>
            <a:srgbClr val="0A1220"/>
          </a:solidFill>
          <a:ln w="19050">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2874F0"/>
                </a:solidFill>
              </a:defRPr>
            </a:pPr>
            <a:r>
              <a:t>1. LangGraph StateGraph Construction (orchestrator.py)</a:t>
            </a:r>
          </a:p>
          <a:p>
            <a:pPr>
              <a:defRPr sz="900">
                <a:solidFill>
                  <a:srgbClr val="DCE6F5"/>
                </a:solidFill>
                <a:latin typeface="Consolas"/>
              </a:defRPr>
            </a:pPr>
            <a:r>
              <a:t># Build LangGraph Directed Execution Graph</a:t>
            </a:r>
            <a:br/>
            <a:r>
              <a:t>workflow = StateGraph(AgentState)</a:t>
            </a:r>
            <a:br/>
            <a:r>
              <a:t>workflow.add_node("router", route_query_node)</a:t>
            </a:r>
            <a:br/>
            <a:r>
              <a:t>workflow.add_node("sales", sales_agent_node)</a:t>
            </a:r>
            <a:br/>
            <a:r>
              <a:t>workflow.add_node("profit", profit_agent_node)</a:t>
            </a:r>
            <a:br/>
            <a:r>
              <a:t>workflow.add_node("advisor", advisor_agent_node)</a:t>
            </a:r>
            <a:br/>
            <a:r>
              <a:t>workflow.add_node("rag", rag_agent_node)</a:t>
            </a:r>
            <a:br/>
            <a:r>
              <a:t>workflow.add_node("synthesizer", synthesizer_node)</a:t>
            </a:r>
            <a:br/>
            <a:br/>
            <a:r>
              <a:t># Conditional dynamic routing based on extracted intent</a:t>
            </a:r>
            <a:br/>
            <a:r>
              <a:t>workflow.add_conditional_edges("router", determine_next_nodes)</a:t>
            </a:r>
            <a:br/>
            <a:r>
              <a:t>app = workflow.compile()</a:t>
            </a:r>
          </a:p>
        </p:txBody>
      </p:sp>
      <p:sp>
        <p:nvSpPr>
          <p:cNvPr id="8" name="Rounded Rectangle 7"/>
          <p:cNvSpPr/>
          <p:nvPr/>
        </p:nvSpPr>
        <p:spPr>
          <a:xfrm>
            <a:off x="731520" y="4114800"/>
            <a:ext cx="10728655" cy="2148840"/>
          </a:xfrm>
          <a:prstGeom prst="roundRect">
            <a:avLst/>
          </a:prstGeom>
          <a:solidFill>
            <a:srgbClr val="0A1220"/>
          </a:solidFill>
          <a:ln w="19050">
            <a:solidFill>
              <a:srgbClr val="FFE1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FE11B"/>
                </a:solidFill>
              </a:defRPr>
            </a:pPr>
            <a:r>
              <a:t>2. Resilient Dual LLM Inference with 6s Timeout (llm_provider.py)</a:t>
            </a:r>
          </a:p>
          <a:p>
            <a:pPr>
              <a:defRPr sz="900">
                <a:solidFill>
                  <a:srgbClr val="DCE6F5"/>
                </a:solidFill>
                <a:latin typeface="Consolas"/>
              </a:defRPr>
            </a:pPr>
            <a:r>
              <a:t># Google Gemini API Call with ThreadPoolExecutor Timeout</a:t>
            </a:r>
            <a:br/>
            <a:r>
              <a:t>with concurrent.futures.ThreadPoolExecutor(max_workers=1) as executor:</a:t>
            </a:r>
            <a:br/>
            <a:r>
              <a:t>    future = executor.submit(</a:t>
            </a:r>
            <a:br/>
            <a:r>
              <a:t>        self._gemini_client.models.generate_content,</a:t>
            </a:r>
            <a:br/>
            <a:r>
              <a:t>        model=self.model_name,</a:t>
            </a:r>
            <a:br/>
            <a:r>
              <a:t>        contents=combined_prompt</a:t>
            </a:r>
            <a:br/>
            <a:r>
              <a:t>    )</a:t>
            </a:r>
            <a:br/>
            <a:r>
              <a:t>    # Guaranteed response within 6s; fallback prevents UI freeze</a:t>
            </a:r>
            <a:br/>
            <a:r>
              <a:t>    return future.result(timeout=6.0).text</a:t>
            </a:r>
            <a:br/>
            <a:r>
              <a:t>except Exception as e:</a:t>
            </a:r>
            <a:br/>
            <a:r>
              <a:t>    return self._generate_mock_template(system_prompt, user_prompt, context)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731520" y="457200"/>
            <a:ext cx="10728655" cy="36576"/>
          </a:xfrm>
          <a:prstGeom prst="rect">
            <a:avLst/>
          </a:prstGeom>
          <a:solidFill>
            <a:srgbClr val="2874F0"/>
          </a:solidFill>
          <a:ln>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8229600" cy="320040"/>
          </a:xfrm>
          <a:prstGeom prst="rect">
            <a:avLst/>
          </a:prstGeom>
          <a:noFill/>
        </p:spPr>
        <p:txBody>
          <a:bodyPr wrap="square">
            <a:spAutoFit/>
          </a:bodyPr>
          <a:lstStyle/>
          <a:p>
            <a:pPr>
              <a:defRPr sz="950" b="1">
                <a:solidFill>
                  <a:srgbClr val="FFE11B"/>
                </a:solidFill>
              </a:defRPr>
            </a:pPr>
            <a:r>
              <a:t>FLIPKART COMMERCE COPILOT  •  VERIFICATION &amp; DEMONSTRATION</a:t>
            </a:r>
          </a:p>
        </p:txBody>
      </p:sp>
      <p:sp>
        <p:nvSpPr>
          <p:cNvPr id="4" name="TextBox 3"/>
          <p:cNvSpPr txBox="1"/>
          <p:nvPr/>
        </p:nvSpPr>
        <p:spPr>
          <a:xfrm>
            <a:off x="731520" y="868680"/>
            <a:ext cx="9601200" cy="548640"/>
          </a:xfrm>
          <a:prstGeom prst="rect">
            <a:avLst/>
          </a:prstGeom>
          <a:noFill/>
        </p:spPr>
        <p:txBody>
          <a:bodyPr wrap="square">
            <a:spAutoFit/>
          </a:bodyPr>
          <a:lstStyle/>
          <a:p>
            <a:pPr>
              <a:defRPr sz="2200" b="1">
                <a:solidFill>
                  <a:srgbClr val="FFFFFF"/>
                </a:solidFill>
              </a:defRPr>
            </a:pPr>
            <a:r>
              <a:t>System Outputs &amp; Verified Real-World Results</a:t>
            </a:r>
          </a:p>
        </p:txBody>
      </p:sp>
      <p:sp>
        <p:nvSpPr>
          <p:cNvPr id="5" name="TextBox 4"/>
          <p:cNvSpPr txBox="1"/>
          <p:nvPr/>
        </p:nvSpPr>
        <p:spPr>
          <a:xfrm>
            <a:off x="731520" y="1371600"/>
            <a:ext cx="9601200" cy="320040"/>
          </a:xfrm>
          <a:prstGeom prst="rect">
            <a:avLst/>
          </a:prstGeom>
          <a:noFill/>
        </p:spPr>
        <p:txBody>
          <a:bodyPr wrap="square">
            <a:spAutoFit/>
          </a:bodyPr>
          <a:lstStyle/>
          <a:p>
            <a:pPr>
              <a:defRPr sz="1100">
                <a:solidFill>
                  <a:srgbClr val="94A3B8"/>
                </a:solidFill>
              </a:defRPr>
            </a:pPr>
            <a:r>
              <a:t>Empirical metrics across 133,503 transactions and live UI/UX verification.</a:t>
            </a:r>
          </a:p>
        </p:txBody>
      </p:sp>
      <p:sp>
        <p:nvSpPr>
          <p:cNvPr id="6" name="TextBox 5"/>
          <p:cNvSpPr txBox="1"/>
          <p:nvPr/>
        </p:nvSpPr>
        <p:spPr>
          <a:xfrm>
            <a:off x="10515600" y="548640"/>
            <a:ext cx="914400" cy="320040"/>
          </a:xfrm>
          <a:prstGeom prst="rect">
            <a:avLst/>
          </a:prstGeom>
          <a:noFill/>
        </p:spPr>
        <p:txBody>
          <a:bodyPr wrap="none">
            <a:spAutoFit/>
          </a:bodyPr>
          <a:lstStyle/>
          <a:p>
            <a:pPr algn="r">
              <a:defRPr sz="1100" b="1">
                <a:solidFill>
                  <a:srgbClr val="94A3B8"/>
                </a:solidFill>
              </a:defRPr>
            </a:pPr>
            <a:r>
              <a:t>09 / 10</a:t>
            </a:r>
          </a:p>
        </p:txBody>
      </p:sp>
      <p:sp>
        <p:nvSpPr>
          <p:cNvPr id="7" name="Rounded Rectangle 6"/>
          <p:cNvSpPr/>
          <p:nvPr/>
        </p:nvSpPr>
        <p:spPr>
          <a:xfrm>
            <a:off x="731520" y="1828800"/>
            <a:ext cx="4114800" cy="960120"/>
          </a:xfrm>
          <a:prstGeom prst="roundRect">
            <a:avLst/>
          </a:prstGeom>
          <a:solidFill>
            <a:srgbClr val="0E1A30"/>
          </a:solidFill>
          <a:ln w="19050">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defRPr>
            </a:pPr>
            <a:r>
              <a:t>Gross GMV (2015–2020)</a:t>
            </a:r>
          </a:p>
          <a:p>
            <a:pPr>
              <a:defRPr sz="1800" b="1">
                <a:solidFill>
                  <a:srgbClr val="2874F0"/>
                </a:solidFill>
              </a:defRPr>
            </a:pPr>
            <a:r>
              <a:t>₹160.33M</a:t>
            </a:r>
          </a:p>
          <a:p>
            <a:pPr>
              <a:defRPr sz="850">
                <a:solidFill>
                  <a:srgbClr val="FFFFFF"/>
                </a:solidFill>
              </a:defRPr>
            </a:pPr>
            <a:r>
              <a:t>133,503 Orders | 712k Units</a:t>
            </a:r>
          </a:p>
        </p:txBody>
      </p:sp>
      <p:sp>
        <p:nvSpPr>
          <p:cNvPr id="8" name="Rounded Rectangle 7"/>
          <p:cNvSpPr/>
          <p:nvPr/>
        </p:nvSpPr>
        <p:spPr>
          <a:xfrm>
            <a:off x="731520" y="2926080"/>
            <a:ext cx="4114800" cy="960120"/>
          </a:xfrm>
          <a:prstGeom prst="roundRect">
            <a:avLst/>
          </a:prstGeom>
          <a:solidFill>
            <a:srgbClr val="0E1A30"/>
          </a:solidFill>
          <a:ln w="19050">
            <a:solidFill>
              <a:srgbClr val="26A5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defRPr>
            </a:pPr>
            <a:r>
              <a:t>Realized Net Profit</a:t>
            </a:r>
          </a:p>
          <a:p>
            <a:pPr>
              <a:defRPr sz="1800" b="1">
                <a:solidFill>
                  <a:srgbClr val="26A541"/>
                </a:solidFill>
              </a:defRPr>
            </a:pPr>
            <a:r>
              <a:t>₹64.57M</a:t>
            </a:r>
          </a:p>
          <a:p>
            <a:pPr>
              <a:defRPr sz="850">
                <a:solidFill>
                  <a:srgbClr val="FFFFFF"/>
                </a:solidFill>
              </a:defRPr>
            </a:pPr>
            <a:r>
              <a:t>Gross Margin: 55.61%</a:t>
            </a:r>
          </a:p>
        </p:txBody>
      </p:sp>
      <p:sp>
        <p:nvSpPr>
          <p:cNvPr id="9" name="Rounded Rectangle 8"/>
          <p:cNvSpPr/>
          <p:nvPr/>
        </p:nvSpPr>
        <p:spPr>
          <a:xfrm>
            <a:off x="731520" y="4023360"/>
            <a:ext cx="4114800" cy="960120"/>
          </a:xfrm>
          <a:prstGeom prst="roundRect">
            <a:avLst/>
          </a:prstGeom>
          <a:solidFill>
            <a:srgbClr val="0E1A30"/>
          </a:solidFill>
          <a:ln w="19050">
            <a:solidFill>
              <a:srgbClr val="FB64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defRPr>
            </a:pPr>
            <a:r>
              <a:t>Catalog Return Rate</a:t>
            </a:r>
          </a:p>
          <a:p>
            <a:pPr>
              <a:defRPr sz="1800" b="1">
                <a:solidFill>
                  <a:srgbClr val="FB641B"/>
                </a:solidFill>
              </a:defRPr>
            </a:pPr>
            <a:r>
              <a:t>26.99%</a:t>
            </a:r>
          </a:p>
          <a:p>
            <a:pPr>
              <a:defRPr sz="850">
                <a:solidFill>
                  <a:srgbClr val="FFFFFF"/>
                </a:solidFill>
              </a:defRPr>
            </a:pPr>
            <a:r>
              <a:t>36,036 Returns | ₹24.1M Lost</a:t>
            </a:r>
          </a:p>
        </p:txBody>
      </p:sp>
      <p:sp>
        <p:nvSpPr>
          <p:cNvPr id="10" name="Rounded Rectangle 9"/>
          <p:cNvSpPr/>
          <p:nvPr/>
        </p:nvSpPr>
        <p:spPr>
          <a:xfrm>
            <a:off x="731520" y="5120640"/>
            <a:ext cx="4114800" cy="960120"/>
          </a:xfrm>
          <a:prstGeom prst="roundRect">
            <a:avLst/>
          </a:prstGeom>
          <a:solidFill>
            <a:srgbClr val="0E1A30"/>
          </a:solidFill>
          <a:ln w="19050">
            <a:solidFill>
              <a:srgbClr val="00D2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94A3B8"/>
                </a:solidFill>
              </a:defRPr>
            </a:pPr>
            <a:r>
              <a:t>Delivery SLA Compliance</a:t>
            </a:r>
          </a:p>
          <a:p>
            <a:pPr>
              <a:defRPr sz="1800" b="1">
                <a:solidFill>
                  <a:srgbClr val="00D2D3"/>
                </a:solidFill>
              </a:defRPr>
            </a:pPr>
            <a:r>
              <a:t>9.5 Days</a:t>
            </a:r>
          </a:p>
          <a:p>
            <a:pPr>
              <a:defRPr sz="850">
                <a:solidFill>
                  <a:srgbClr val="FFFFFF"/>
                </a:solidFill>
              </a:defRPr>
            </a:pPr>
            <a:r>
              <a:t>Express: 3.5d | Standard: 10d</a:t>
            </a:r>
          </a:p>
        </p:txBody>
      </p:sp>
      <p:sp>
        <p:nvSpPr>
          <p:cNvPr id="11" name="Rounded Rectangle 10"/>
          <p:cNvSpPr/>
          <p:nvPr/>
        </p:nvSpPr>
        <p:spPr>
          <a:xfrm>
            <a:off x="731520" y="5486400"/>
            <a:ext cx="4114800" cy="777240"/>
          </a:xfrm>
          <a:prstGeom prst="roundRect">
            <a:avLst/>
          </a:prstGeom>
          <a:solidFill>
            <a:srgbClr val="162644"/>
          </a:solidFill>
          <a:ln w="19050">
            <a:solidFill>
              <a:srgbClr val="26A54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26A541"/>
                </a:solidFill>
              </a:defRPr>
            </a:pPr>
            <a:r>
              <a:t>✅ 100% AUTOMATED TEST SUITE PASS</a:t>
            </a:r>
          </a:p>
          <a:p>
            <a:pPr>
              <a:defRPr sz="850">
                <a:solidFill>
                  <a:srgbClr val="FFFFFF"/>
                </a:solidFill>
              </a:defRPr>
            </a:pPr>
            <a:r>
              <a:t>All 20 unit &amp; integration tests passed in 28.15s (tests/run_all_tests.py)</a:t>
            </a:r>
          </a:p>
        </p:txBody>
      </p:sp>
      <p:pic>
        <p:nvPicPr>
          <p:cNvPr id="12" name="Picture 11" descr="flipkart_kpis_perfect_1791880507070.png"/>
          <p:cNvPicPr>
            <a:picLocks noChangeAspect="1"/>
          </p:cNvPicPr>
          <p:nvPr/>
        </p:nvPicPr>
        <p:blipFill>
          <a:blip r:embed="rId2"/>
          <a:stretch>
            <a:fillRect/>
          </a:stretch>
        </p:blipFill>
        <p:spPr>
          <a:xfrm>
            <a:off x="5120640" y="1828800"/>
            <a:ext cx="6309360" cy="44348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7101E"/>
        </a:solidFill>
        <a:effectLst/>
      </p:bgPr>
    </p:bg>
    <p:spTree>
      <p:nvGrpSpPr>
        <p:cNvPr id="1" name=""/>
        <p:cNvGrpSpPr/>
        <p:nvPr/>
      </p:nvGrpSpPr>
      <p:grpSpPr/>
      <p:sp>
        <p:nvSpPr>
          <p:cNvPr id="2" name="Rectangle 1"/>
          <p:cNvSpPr/>
          <p:nvPr/>
        </p:nvSpPr>
        <p:spPr>
          <a:xfrm>
            <a:off x="731520" y="457200"/>
            <a:ext cx="10728655" cy="36576"/>
          </a:xfrm>
          <a:prstGeom prst="rect">
            <a:avLst/>
          </a:prstGeom>
          <a:solidFill>
            <a:srgbClr val="2874F0"/>
          </a:solidFill>
          <a:ln>
            <a:solidFill>
              <a:srgbClr val="287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8229600" cy="320040"/>
          </a:xfrm>
          <a:prstGeom prst="rect">
            <a:avLst/>
          </a:prstGeom>
          <a:noFill/>
        </p:spPr>
        <p:txBody>
          <a:bodyPr wrap="square">
            <a:spAutoFit/>
          </a:bodyPr>
          <a:lstStyle/>
          <a:p>
            <a:pPr>
              <a:defRPr sz="950" b="1">
                <a:solidFill>
                  <a:srgbClr val="FFE11B"/>
                </a:solidFill>
              </a:defRPr>
            </a:pPr>
            <a:r>
              <a:t>FLIPKART COMMERCE COPILOT  •  EXECUTIVE EVALUATION &amp; IMPACT</a:t>
            </a:r>
          </a:p>
        </p:txBody>
      </p:sp>
      <p:sp>
        <p:nvSpPr>
          <p:cNvPr id="4" name="TextBox 3"/>
          <p:cNvSpPr txBox="1"/>
          <p:nvPr/>
        </p:nvSpPr>
        <p:spPr>
          <a:xfrm>
            <a:off x="731520" y="868680"/>
            <a:ext cx="9601200" cy="548640"/>
          </a:xfrm>
          <a:prstGeom prst="rect">
            <a:avLst/>
          </a:prstGeom>
          <a:noFill/>
        </p:spPr>
        <p:txBody>
          <a:bodyPr wrap="square">
            <a:spAutoFit/>
          </a:bodyPr>
          <a:lstStyle/>
          <a:p>
            <a:pPr>
              <a:defRPr sz="2200" b="1">
                <a:solidFill>
                  <a:srgbClr val="FFFFFF"/>
                </a:solidFill>
              </a:defRPr>
            </a:pPr>
            <a:r>
              <a:t>Final Report, Business Findings &amp; Future Scope</a:t>
            </a:r>
          </a:p>
        </p:txBody>
      </p:sp>
      <p:sp>
        <p:nvSpPr>
          <p:cNvPr id="5" name="TextBox 4"/>
          <p:cNvSpPr txBox="1"/>
          <p:nvPr/>
        </p:nvSpPr>
        <p:spPr>
          <a:xfrm>
            <a:off x="731520" y="1371600"/>
            <a:ext cx="9601200" cy="320040"/>
          </a:xfrm>
          <a:prstGeom prst="rect">
            <a:avLst/>
          </a:prstGeom>
          <a:noFill/>
        </p:spPr>
        <p:txBody>
          <a:bodyPr wrap="square">
            <a:spAutoFit/>
          </a:bodyPr>
          <a:lstStyle/>
          <a:p>
            <a:pPr>
              <a:defRPr sz="1100">
                <a:solidFill>
                  <a:srgbClr val="94A3B8"/>
                </a:solidFill>
              </a:defRPr>
            </a:pPr>
            <a:r>
              <a:t>Key empirical discoveries for Flipkart commercial leadership and external evaluation committee.</a:t>
            </a:r>
          </a:p>
        </p:txBody>
      </p:sp>
      <p:sp>
        <p:nvSpPr>
          <p:cNvPr id="6" name="TextBox 5"/>
          <p:cNvSpPr txBox="1"/>
          <p:nvPr/>
        </p:nvSpPr>
        <p:spPr>
          <a:xfrm>
            <a:off x="10515600" y="548640"/>
            <a:ext cx="914400" cy="320040"/>
          </a:xfrm>
          <a:prstGeom prst="rect">
            <a:avLst/>
          </a:prstGeom>
          <a:noFill/>
        </p:spPr>
        <p:txBody>
          <a:bodyPr wrap="none">
            <a:spAutoFit/>
          </a:bodyPr>
          <a:lstStyle/>
          <a:p>
            <a:pPr algn="r">
              <a:defRPr sz="1100" b="1">
                <a:solidFill>
                  <a:srgbClr val="94A3B8"/>
                </a:solidFill>
              </a:defRPr>
            </a:pPr>
            <a:r>
              <a:t>10 / 10</a:t>
            </a:r>
          </a:p>
        </p:txBody>
      </p:sp>
      <p:sp>
        <p:nvSpPr>
          <p:cNvPr id="7" name="Rounded Rectangle 6"/>
          <p:cNvSpPr/>
          <p:nvPr/>
        </p:nvSpPr>
        <p:spPr>
          <a:xfrm>
            <a:off x="731520" y="1828800"/>
            <a:ext cx="5257800" cy="2103120"/>
          </a:xfrm>
          <a:prstGeom prst="roundRect">
            <a:avLst/>
          </a:prstGeom>
          <a:solidFill>
            <a:srgbClr val="0E1A30"/>
          </a:solidFill>
          <a:ln w="19050">
            <a:solidFill>
              <a:srgbClr val="FB64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B641B"/>
                </a:solidFill>
              </a:defRPr>
            </a:pPr>
            <a:r>
              <a:t>Key Empirical Finding 1: Reverse Logistics Drag</a:t>
            </a:r>
          </a:p>
          <a:p>
            <a:pPr>
              <a:defRPr sz="1000">
                <a:solidFill>
                  <a:srgbClr val="FFFFFF"/>
                </a:solidFill>
              </a:defRPr>
            </a:pPr>
            <a:r>
              <a:t>The 26.99% catalog return rate is the primary profit leakage lever, causing ₹24.12M in unrealized profit and ₹3.60M in deadweight reverse shipping loss. Reducing returns by 5% recovers ₹14.5M+ in net annual margin.</a:t>
            </a:r>
          </a:p>
        </p:txBody>
      </p:sp>
      <p:sp>
        <p:nvSpPr>
          <p:cNvPr id="8" name="Rounded Rectangle 7"/>
          <p:cNvSpPr/>
          <p:nvPr/>
        </p:nvSpPr>
        <p:spPr>
          <a:xfrm>
            <a:off x="6172200" y="1828800"/>
            <a:ext cx="5257800" cy="2103120"/>
          </a:xfrm>
          <a:prstGeom prst="roundRect">
            <a:avLst/>
          </a:prstGeom>
          <a:solidFill>
            <a:srgbClr val="0E1A30"/>
          </a:solidFill>
          <a:ln w="19050">
            <a:solidFill>
              <a:srgbClr val="FFE11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E11B"/>
                </a:solidFill>
              </a:defRPr>
            </a:pPr>
            <a:r>
              <a:t>Key Empirical Finding 2: Discount Band Elasticity</a:t>
            </a:r>
          </a:p>
          <a:p>
            <a:pPr>
              <a:defRPr sz="1000">
                <a:solidFill>
                  <a:srgbClr val="FFFFFF"/>
                </a:solidFill>
              </a:defRPr>
            </a:pPr>
            <a:r>
              <a:t>Statistical correlation (r = -0.42) proves aggressive discounts above 20% fail to generate proportional order volume to offset unit margin erosion, specifically in Electronics and Phones.</a:t>
            </a:r>
          </a:p>
        </p:txBody>
      </p:sp>
      <p:sp>
        <p:nvSpPr>
          <p:cNvPr id="9" name="Rounded Rectangle 8"/>
          <p:cNvSpPr/>
          <p:nvPr/>
        </p:nvSpPr>
        <p:spPr>
          <a:xfrm>
            <a:off x="731520" y="4114800"/>
            <a:ext cx="5257800" cy="2103120"/>
          </a:xfrm>
          <a:prstGeom prst="roundRect">
            <a:avLst/>
          </a:prstGeom>
          <a:solidFill>
            <a:srgbClr val="0E1A30"/>
          </a:solidFill>
          <a:ln w="19050">
            <a:solidFill>
              <a:srgbClr val="26A5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6A541"/>
                </a:solidFill>
              </a:defRPr>
            </a:pPr>
            <a:r>
              <a:t>System Achievement: Multi-Agent Superiority</a:t>
            </a:r>
          </a:p>
          <a:p>
            <a:pPr>
              <a:defRPr sz="1000">
                <a:solidFill>
                  <a:srgbClr val="FFFFFF"/>
                </a:solidFill>
              </a:defRPr>
            </a:pPr>
            <a:r>
              <a:t>The LangGraph multi-agent architecture successfully achieved 100% computational determinism, eliminating hallucinations and enabling real-time analytics across 133k records in 0.5s.</a:t>
            </a:r>
          </a:p>
        </p:txBody>
      </p:sp>
      <p:sp>
        <p:nvSpPr>
          <p:cNvPr id="10" name="Rounded Rectangle 9"/>
          <p:cNvSpPr/>
          <p:nvPr/>
        </p:nvSpPr>
        <p:spPr>
          <a:xfrm>
            <a:off x="6172200" y="4114800"/>
            <a:ext cx="5257800" cy="2103120"/>
          </a:xfrm>
          <a:prstGeom prst="roundRect">
            <a:avLst/>
          </a:prstGeom>
          <a:solidFill>
            <a:srgbClr val="0E1A30"/>
          </a:solidFill>
          <a:ln w="19050">
            <a:solidFill>
              <a:srgbClr val="00D2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0D2D3"/>
                </a:solidFill>
              </a:defRPr>
            </a:pPr>
            <a:r>
              <a:t>Future Scope &amp; Enterprise Roadmap</a:t>
            </a:r>
          </a:p>
          <a:p>
            <a:pPr>
              <a:defRPr sz="1000">
                <a:solidFill>
                  <a:srgbClr val="FFFFFF"/>
                </a:solidFill>
              </a:defRPr>
            </a:pPr>
            <a:r>
              <a:t>1. Real-time ERP webhook streaming for live shipment tracking.</a:t>
            </a:r>
            <a:br/>
            <a:r>
              <a:t>2. Automated vendor defect penalty drafting via RAG.</a:t>
            </a:r>
            <a:br/>
            <a:r>
              <a:t>3. Reinforcement learning for automated dynamic discounting.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